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0287000" cx="18288000"/>
  <p:notesSz cx="6858000" cy="9144000"/>
  <p:embeddedFontLst>
    <p:embeddedFont>
      <p:font typeface="Inter Light"/>
      <p:regular r:id="rId27"/>
      <p:bold r:id="rId28"/>
      <p:italic r:id="rId29"/>
      <p:boldItalic r:id="rId30"/>
    </p:embeddedFont>
    <p:embeddedFont>
      <p:font typeface="Inter"/>
      <p:bold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hPTx0BIHLO3hoGPpZyP/Zn9bRb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Light-bold.fntdata"/><Relationship Id="rId27" Type="http://schemas.openxmlformats.org/officeDocument/2006/relationships/font" Target="fonts/Inter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Ligh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fntdata"/><Relationship Id="rId30" Type="http://schemas.openxmlformats.org/officeDocument/2006/relationships/font" Target="fonts/InterLight-boldItalic.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9" name="Google Shape;9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0" name="Google Shape;10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02" name="Google Shape;10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3" name="Google Shape;10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3" name="Google Shape;123;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4" name="Google Shape;124;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26" name="Google Shape;126;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7" name="Google Shape;127;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3" name="Google Shape;143;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4" name="Google Shape;144;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46" name="Google Shape;146;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7" name="Google Shape;147;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8" name="Google Shape;168;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9" name="Google Shape;169;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71" name="Google Shape;171;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2" name="Google Shape;172;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3" name="Google Shape;183;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5" name="Google Shape;185;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6" name="Google Shape;186;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8" name="Google Shape;198;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9" name="Google Shape;199;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01" name="Google Shape;201;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2" name="Google Shape;202;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4" name="Google Shape;214;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5" name="Google Shape;215;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17" name="Google Shape;217;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8" name="Google Shape;218;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0" name="Google Shape;230;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1" name="Google Shape;231;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33" name="Google Shape;233;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4" name="Google Shape;234;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6" name="Google Shape;24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7" name="Google Shape;24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49" name="Google Shape;24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5" name="Google Shape;265;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6" name="Google Shape;266;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68" name="Google Shape;268;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9" name="Google Shape;269;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3" name="Google Shape;283;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4" name="Google Shape;284;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86" name="Google Shape;286;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7" name="Google Shape;287;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1" name="Google Shape;301;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2" name="Google Shape;302;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04" name="Google Shape;304;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5" name="Google Shape;305;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9" name="Google Shape;319;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0" name="Google Shape;320;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22" name="Google Shape;322;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23" name="Google Shape;323;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1" name="Google Shape;351;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2" name="Google Shape;352;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54" name="Google Shape;354;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5" name="Google Shape;355;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3" name="Google Shape;383;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4" name="Google Shape;384;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86" name="Google Shape;386;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7" name="Google Shape;387;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5" name="Google Shape;395;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6" name="Google Shape;396;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398" name="Google Shape;398;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9" name="Google Shape;399;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7" name="Google Shape;407;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8" name="Google Shape;408;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19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10" name="Google Shape;410;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1" name="Google Shape;411;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1" name="Google Shape;431;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2" name="Google Shape;432;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20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34" name="Google Shape;434;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5" name="Google Shape;435;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3" name="Google Shape;443;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4" name="Google Shape;444;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21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46" name="Google Shape;446;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7" name="Google Shape;447;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5" name="Google Shape;455;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6" name="Google Shape;456;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rPr lang="en-US"/>
              <a:t>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458" name="Google Shape;458;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9" name="Google Shape;459;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1"/>
          <p:cNvSpPr/>
          <p:nvPr>
            <p:ph idx="2" type="pic"/>
          </p:nvPr>
        </p:nvSpPr>
        <p:spPr>
          <a:xfrm>
            <a:off x="1792288" y="612775"/>
            <a:ext cx="5486400" cy="4114800"/>
          </a:xfrm>
          <a:prstGeom prst="rect">
            <a:avLst/>
          </a:prstGeom>
          <a:noFill/>
          <a:ln>
            <a:noFill/>
          </a:ln>
        </p:spPr>
      </p:sp>
      <p:sp>
        <p:nvSpPr>
          <p:cNvPr id="68" name="Google Shape;68;p3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34.png"/><Relationship Id="rId5" Type="http://schemas.openxmlformats.org/officeDocument/2006/relationships/image" Target="../media/image1.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22.png"/><Relationship Id="rId5"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2.png"/><Relationship Id="rId9"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8.png"/><Relationship Id="rId7" Type="http://schemas.openxmlformats.org/officeDocument/2006/relationships/image" Target="../media/image26.png"/><Relationship Id="rId8"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gamma.app/?utm_source=made-with-gamma" TargetMode="External"/><Relationship Id="rId4" Type="http://schemas.openxmlformats.org/officeDocument/2006/relationships/image" Target="../media/image21.png"/><Relationship Id="rId5"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23.png"/><Relationship Id="rId5" Type="http://schemas.openxmlformats.org/officeDocument/2006/relationships/image" Target="../media/image32.png"/><Relationship Id="rId6"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jpg"/><Relationship Id="rId4"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1" name="Shape 91"/>
        <p:cNvGrpSpPr/>
        <p:nvPr/>
      </p:nvGrpSpPr>
      <p:grpSpPr>
        <a:xfrm>
          <a:off x="0" y="0"/>
          <a:ext cx="0" cy="0"/>
          <a:chOff x="0" y="0"/>
          <a:chExt cx="0" cy="0"/>
        </a:xfrm>
      </p:grpSpPr>
      <p:sp>
        <p:nvSpPr>
          <p:cNvPr id="92" name="Google Shape;92;p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93" name="Google Shape;93;p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descr="preencoded.png" id="94" name="Google Shape;94;p1"/>
          <p:cNvSpPr/>
          <p:nvPr/>
        </p:nvSpPr>
        <p:spPr>
          <a:xfrm>
            <a:off x="0" y="0"/>
            <a:ext cx="6863144" cy="10295001"/>
          </a:xfrm>
          <a:custGeom>
            <a:rect b="b" l="l" r="r" t="t"/>
            <a:pathLst>
              <a:path extrusionOk="0" h="13726668" w="9150858">
                <a:moveTo>
                  <a:pt x="0" y="0"/>
                </a:moveTo>
                <a:lnTo>
                  <a:pt x="9150858" y="0"/>
                </a:lnTo>
                <a:lnTo>
                  <a:pt x="9150858" y="13726668"/>
                </a:lnTo>
                <a:lnTo>
                  <a:pt x="0" y="13726668"/>
                </a:lnTo>
                <a:lnTo>
                  <a:pt x="0" y="0"/>
                </a:lnTo>
                <a:close/>
              </a:path>
            </a:pathLst>
          </a:custGeom>
          <a:blipFill rotWithShape="1">
            <a:blip r:embed="rId3">
              <a:alphaModFix/>
            </a:blip>
            <a:stretch>
              <a:fillRect b="0" l="-1" r="-1" t="0"/>
            </a:stretch>
          </a:blipFill>
          <a:ln>
            <a:noFill/>
          </a:ln>
        </p:spPr>
      </p:sp>
      <p:sp>
        <p:nvSpPr>
          <p:cNvPr id="95" name="Google Shape;95;p1"/>
          <p:cNvSpPr txBox="1"/>
          <p:nvPr/>
        </p:nvSpPr>
        <p:spPr>
          <a:xfrm>
            <a:off x="7856182" y="3244015"/>
            <a:ext cx="9452677" cy="1963836"/>
          </a:xfrm>
          <a:prstGeom prst="rect">
            <a:avLst/>
          </a:prstGeom>
          <a:noFill/>
          <a:ln>
            <a:noFill/>
          </a:ln>
        </p:spPr>
        <p:txBody>
          <a:bodyPr anchorCtr="0" anchor="t" bIns="0" lIns="0" spcFirstLastPara="1" rIns="0" wrap="square" tIns="0">
            <a:spAutoFit/>
          </a:bodyPr>
          <a:lstStyle/>
          <a:p>
            <a:pPr indent="0" lvl="0" marL="0" marR="0" rtl="0" algn="l">
              <a:lnSpc>
                <a:spcPct val="149774"/>
              </a:lnSpc>
              <a:spcBef>
                <a:spcPts val="0"/>
              </a:spcBef>
              <a:spcAft>
                <a:spcPts val="0"/>
              </a:spcAft>
              <a:buNone/>
            </a:pPr>
            <a:r>
              <a:rPr b="1" i="0" lang="en-US" sz="5553" u="none" cap="none" strike="noStrike">
                <a:solidFill>
                  <a:srgbClr val="000000"/>
                </a:solidFill>
                <a:latin typeface="Inter"/>
                <a:ea typeface="Inter"/>
                <a:cs typeface="Inter"/>
                <a:sym typeface="Inter"/>
              </a:rPr>
              <a:t>AstroSage Call Center Performance Analysis</a:t>
            </a:r>
            <a:endParaRPr/>
          </a:p>
        </p:txBody>
      </p:sp>
      <p:sp>
        <p:nvSpPr>
          <p:cNvPr id="96" name="Google Shape;96;p1"/>
          <p:cNvSpPr txBox="1"/>
          <p:nvPr/>
        </p:nvSpPr>
        <p:spPr>
          <a:xfrm>
            <a:off x="7856182" y="5414305"/>
            <a:ext cx="9452677" cy="1446228"/>
          </a:xfrm>
          <a:prstGeom prst="rect">
            <a:avLst/>
          </a:prstGeom>
          <a:noFill/>
          <a:ln>
            <a:noFill/>
          </a:ln>
        </p:spPr>
        <p:txBody>
          <a:bodyPr anchorCtr="0" anchor="t" bIns="0" lIns="0" spcFirstLastPara="1" rIns="0" wrap="square" tIns="0">
            <a:spAutoFit/>
          </a:bodyPr>
          <a:lstStyle/>
          <a:p>
            <a:pPr indent="0" lvl="0" marL="0" marR="0" rtl="0" algn="l">
              <a:lnSpc>
                <a:spcPct val="191544"/>
              </a:lnSpc>
              <a:spcBef>
                <a:spcPts val="0"/>
              </a:spcBef>
              <a:spcAft>
                <a:spcPts val="0"/>
              </a:spcAft>
              <a:buNone/>
            </a:pPr>
            <a:r>
              <a:rPr b="0" i="0" lang="en-US" sz="2176" u="none" cap="none" strike="noStrike">
                <a:solidFill>
                  <a:srgbClr val="272525"/>
                </a:solidFill>
                <a:latin typeface="Inter"/>
                <a:ea typeface="Inter"/>
                <a:cs typeface="Inter"/>
                <a:sym typeface="Inter"/>
              </a:rPr>
              <a:t>Spreadsheet-Based Business Intelligence and Dashboard Project</a:t>
            </a:r>
            <a:endParaRPr/>
          </a:p>
          <a:p>
            <a:pPr indent="0" lvl="0" marL="0" marR="0" rtl="0" algn="l">
              <a:lnSpc>
                <a:spcPct val="191544"/>
              </a:lnSpc>
              <a:spcBef>
                <a:spcPts val="0"/>
              </a:spcBef>
              <a:spcAft>
                <a:spcPts val="0"/>
              </a:spcAft>
              <a:buNone/>
            </a:pPr>
            <a:r>
              <a:rPr b="0" i="0" lang="en-US" sz="2176" u="none" cap="none" strike="noStrike">
                <a:solidFill>
                  <a:srgbClr val="272525"/>
                </a:solidFill>
                <a:latin typeface="Inter"/>
                <a:ea typeface="Inter"/>
                <a:cs typeface="Inter"/>
                <a:sym typeface="Inter"/>
              </a:rPr>
              <a:t>Prepared by: Anjali Kapse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4" name="Shape 104"/>
        <p:cNvGrpSpPr/>
        <p:nvPr/>
      </p:nvGrpSpPr>
      <p:grpSpPr>
        <a:xfrm>
          <a:off x="0" y="0"/>
          <a:ext cx="0" cy="0"/>
          <a:chOff x="0" y="0"/>
          <a:chExt cx="0" cy="0"/>
        </a:xfrm>
      </p:grpSpPr>
      <p:sp>
        <p:nvSpPr>
          <p:cNvPr id="105" name="Google Shape;105;p2"/>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106" name="Google Shape;106;p2"/>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107" name="Google Shape;107;p2"/>
          <p:cNvSpPr txBox="1"/>
          <p:nvPr/>
        </p:nvSpPr>
        <p:spPr>
          <a:xfrm>
            <a:off x="992991" y="617811"/>
            <a:ext cx="16315868" cy="1026233"/>
          </a:xfrm>
          <a:prstGeom prst="rect">
            <a:avLst/>
          </a:prstGeom>
          <a:noFill/>
          <a:ln>
            <a:noFill/>
          </a:ln>
        </p:spPr>
        <p:txBody>
          <a:bodyPr anchorCtr="0" anchor="t" bIns="0" lIns="0" spcFirstLastPara="1" rIns="0" wrap="square" tIns="0">
            <a:spAutoFit/>
          </a:bodyPr>
          <a:lstStyle/>
          <a:p>
            <a:pPr indent="0" lvl="0" marL="0" marR="0" rtl="0" algn="l">
              <a:lnSpc>
                <a:spcPct val="149781"/>
              </a:lnSpc>
              <a:spcBef>
                <a:spcPts val="0"/>
              </a:spcBef>
              <a:spcAft>
                <a:spcPts val="0"/>
              </a:spcAft>
              <a:buNone/>
            </a:pPr>
            <a:r>
              <a:rPr b="1" i="0" lang="en-US" sz="5253" u="none" cap="none" strike="noStrike">
                <a:solidFill>
                  <a:srgbClr val="000000"/>
                </a:solidFill>
                <a:latin typeface="Inter"/>
                <a:ea typeface="Inter"/>
                <a:cs typeface="Inter"/>
                <a:sym typeface="Inter"/>
              </a:rPr>
              <a:t>Business Problem Statement</a:t>
            </a:r>
            <a:endParaRPr/>
          </a:p>
        </p:txBody>
      </p:sp>
      <p:sp>
        <p:nvSpPr>
          <p:cNvPr id="108" name="Google Shape;108;p2"/>
          <p:cNvSpPr txBox="1"/>
          <p:nvPr/>
        </p:nvSpPr>
        <p:spPr>
          <a:xfrm>
            <a:off x="992991" y="1959521"/>
            <a:ext cx="17230954" cy="622583"/>
          </a:xfrm>
          <a:prstGeom prst="rect">
            <a:avLst/>
          </a:prstGeom>
          <a:noFill/>
          <a:ln>
            <a:noFill/>
          </a:ln>
        </p:spPr>
        <p:txBody>
          <a:bodyPr anchorCtr="0" anchor="t" bIns="0" lIns="0" spcFirstLastPara="1" rIns="0" wrap="square" tIns="0">
            <a:spAutoFit/>
          </a:bodyPr>
          <a:lstStyle/>
          <a:p>
            <a:pPr indent="0" lvl="0" marL="0" marR="0" rtl="0" algn="l">
              <a:lnSpc>
                <a:spcPct val="187196"/>
              </a:lnSpc>
              <a:spcBef>
                <a:spcPts val="0"/>
              </a:spcBef>
              <a:spcAft>
                <a:spcPts val="0"/>
              </a:spcAft>
              <a:buNone/>
            </a:pPr>
            <a:r>
              <a:rPr b="0" i="0" lang="en-US" sz="2101" u="none" cap="none" strike="noStrike">
                <a:solidFill>
                  <a:srgbClr val="272525"/>
                </a:solidFill>
                <a:latin typeface="Inter"/>
                <a:ea typeface="Inter"/>
                <a:cs typeface="Inter"/>
                <a:sym typeface="Inter"/>
              </a:rPr>
              <a:t>AstroSage faces critical operational and strategic challenges that require data-driven solutions:</a:t>
            </a:r>
            <a:endParaRPr/>
          </a:p>
        </p:txBody>
      </p:sp>
      <p:sp>
        <p:nvSpPr>
          <p:cNvPr descr="preencoded.png" id="109" name="Google Shape;109;p2"/>
          <p:cNvSpPr/>
          <p:nvPr/>
        </p:nvSpPr>
        <p:spPr>
          <a:xfrm>
            <a:off x="992991" y="2872092"/>
            <a:ext cx="676084" cy="676085"/>
          </a:xfrm>
          <a:custGeom>
            <a:rect b="b" l="l" r="r" t="t"/>
            <a:pathLst>
              <a:path extrusionOk="0" h="901446" w="901446">
                <a:moveTo>
                  <a:pt x="0" y="0"/>
                </a:moveTo>
                <a:lnTo>
                  <a:pt x="901446" y="0"/>
                </a:lnTo>
                <a:lnTo>
                  <a:pt x="901446" y="901446"/>
                </a:lnTo>
                <a:lnTo>
                  <a:pt x="0" y="901446"/>
                </a:lnTo>
                <a:lnTo>
                  <a:pt x="0" y="0"/>
                </a:lnTo>
                <a:close/>
              </a:path>
            </a:pathLst>
          </a:custGeom>
          <a:blipFill rotWithShape="1">
            <a:blip r:embed="rId3">
              <a:alphaModFix/>
            </a:blip>
            <a:stretch>
              <a:fillRect b="4" l="0" r="4" t="0"/>
            </a:stretch>
          </a:blipFill>
          <a:ln>
            <a:noFill/>
          </a:ln>
        </p:spPr>
      </p:sp>
      <p:sp>
        <p:nvSpPr>
          <p:cNvPr id="110" name="Google Shape;110;p2"/>
          <p:cNvSpPr txBox="1"/>
          <p:nvPr/>
        </p:nvSpPr>
        <p:spPr>
          <a:xfrm>
            <a:off x="992991" y="3784597"/>
            <a:ext cx="7996780" cy="930840"/>
          </a:xfrm>
          <a:prstGeom prst="rect">
            <a:avLst/>
          </a:prstGeom>
          <a:noFill/>
          <a:ln>
            <a:noFill/>
          </a:ln>
        </p:spPr>
        <p:txBody>
          <a:bodyPr anchorCtr="0" anchor="t" bIns="0" lIns="0" spcFirstLastPara="1" rIns="0" wrap="square" tIns="0">
            <a:spAutoFit/>
          </a:bodyPr>
          <a:lstStyle/>
          <a:p>
            <a:pPr indent="0" lvl="0" marL="0" marR="0" rtl="0" algn="l">
              <a:lnSpc>
                <a:spcPct val="149771"/>
              </a:lnSpc>
              <a:spcBef>
                <a:spcPts val="0"/>
              </a:spcBef>
              <a:spcAft>
                <a:spcPts val="0"/>
              </a:spcAft>
              <a:buNone/>
            </a:pPr>
            <a:r>
              <a:rPr b="1" i="0" lang="en-US" sz="2626" u="none" cap="none" strike="noStrike">
                <a:solidFill>
                  <a:srgbClr val="272525"/>
                </a:solidFill>
                <a:latin typeface="Inter"/>
                <a:ea typeface="Inter"/>
                <a:cs typeface="Inter"/>
                <a:sym typeface="Inter"/>
              </a:rPr>
              <a:t>Customer Satisfaction Improvement Opportunities</a:t>
            </a:r>
            <a:endParaRPr/>
          </a:p>
        </p:txBody>
      </p:sp>
      <p:sp>
        <p:nvSpPr>
          <p:cNvPr id="111" name="Google Shape;111;p2"/>
          <p:cNvSpPr txBox="1"/>
          <p:nvPr/>
        </p:nvSpPr>
        <p:spPr>
          <a:xfrm>
            <a:off x="992991" y="4670012"/>
            <a:ext cx="7996780" cy="1467688"/>
          </a:xfrm>
          <a:prstGeom prst="rect">
            <a:avLst/>
          </a:prstGeom>
          <a:noFill/>
          <a:ln>
            <a:noFill/>
          </a:ln>
        </p:spPr>
        <p:txBody>
          <a:bodyPr anchorCtr="0" anchor="t" bIns="0" lIns="0" spcFirstLastPara="1" rIns="0" wrap="square" tIns="0">
            <a:spAutoFit/>
          </a:bodyPr>
          <a:lstStyle/>
          <a:p>
            <a:pPr indent="0" lvl="0" marL="0" marR="0" rtl="0" algn="l">
              <a:lnSpc>
                <a:spcPct val="187196"/>
              </a:lnSpc>
              <a:spcBef>
                <a:spcPts val="0"/>
              </a:spcBef>
              <a:spcAft>
                <a:spcPts val="0"/>
              </a:spcAft>
              <a:buNone/>
            </a:pPr>
            <a:r>
              <a:rPr b="0" i="0" lang="en-US" sz="2101" u="none" cap="none" strike="noStrike">
                <a:solidFill>
                  <a:srgbClr val="272525"/>
                </a:solidFill>
                <a:latin typeface="Inter"/>
                <a:ea typeface="Inter"/>
                <a:cs typeface="Inter"/>
                <a:sym typeface="Inter"/>
              </a:rPr>
              <a:t>Overall customer rating of 2.93 out of 5.0 indicates significant opportunities to enhance service quality and customer experience across all consultation channels.</a:t>
            </a:r>
            <a:endParaRPr/>
          </a:p>
        </p:txBody>
      </p:sp>
      <p:sp>
        <p:nvSpPr>
          <p:cNvPr descr="preencoded.png" id="112" name="Google Shape;112;p2"/>
          <p:cNvSpPr/>
          <p:nvPr/>
        </p:nvSpPr>
        <p:spPr>
          <a:xfrm>
            <a:off x="9311926" y="2872092"/>
            <a:ext cx="676084" cy="676085"/>
          </a:xfrm>
          <a:custGeom>
            <a:rect b="b" l="l" r="r" t="t"/>
            <a:pathLst>
              <a:path extrusionOk="0" h="901446" w="901446">
                <a:moveTo>
                  <a:pt x="0" y="0"/>
                </a:moveTo>
                <a:lnTo>
                  <a:pt x="901446" y="0"/>
                </a:lnTo>
                <a:lnTo>
                  <a:pt x="901446" y="901446"/>
                </a:lnTo>
                <a:lnTo>
                  <a:pt x="0" y="901446"/>
                </a:lnTo>
                <a:lnTo>
                  <a:pt x="0" y="0"/>
                </a:lnTo>
                <a:close/>
              </a:path>
            </a:pathLst>
          </a:custGeom>
          <a:blipFill rotWithShape="1">
            <a:blip r:embed="rId4">
              <a:alphaModFix/>
            </a:blip>
            <a:stretch>
              <a:fillRect b="4" l="0" r="4" t="0"/>
            </a:stretch>
          </a:blipFill>
          <a:ln>
            <a:noFill/>
          </a:ln>
        </p:spPr>
      </p:sp>
      <p:sp>
        <p:nvSpPr>
          <p:cNvPr id="113" name="Google Shape;113;p2"/>
          <p:cNvSpPr txBox="1"/>
          <p:nvPr/>
        </p:nvSpPr>
        <p:spPr>
          <a:xfrm>
            <a:off x="9311926" y="3784597"/>
            <a:ext cx="7996923" cy="508283"/>
          </a:xfrm>
          <a:prstGeom prst="rect">
            <a:avLst/>
          </a:prstGeom>
          <a:noFill/>
          <a:ln>
            <a:noFill/>
          </a:ln>
        </p:spPr>
        <p:txBody>
          <a:bodyPr anchorCtr="0" anchor="t" bIns="0" lIns="0" spcFirstLastPara="1" rIns="0" wrap="square" tIns="0">
            <a:spAutoFit/>
          </a:bodyPr>
          <a:lstStyle/>
          <a:p>
            <a:pPr indent="0" lvl="0" marL="0" marR="0" rtl="0" algn="l">
              <a:lnSpc>
                <a:spcPct val="149771"/>
              </a:lnSpc>
              <a:spcBef>
                <a:spcPts val="0"/>
              </a:spcBef>
              <a:spcAft>
                <a:spcPts val="0"/>
              </a:spcAft>
              <a:buNone/>
            </a:pPr>
            <a:r>
              <a:rPr b="1" i="0" lang="en-US" sz="2626" u="none" cap="none" strike="noStrike">
                <a:solidFill>
                  <a:srgbClr val="272525"/>
                </a:solidFill>
                <a:latin typeface="Inter"/>
                <a:ea typeface="Inter"/>
                <a:cs typeface="Inter"/>
                <a:sym typeface="Inter"/>
              </a:rPr>
              <a:t>Operational Efficiency Challenges</a:t>
            </a:r>
            <a:endParaRPr/>
          </a:p>
        </p:txBody>
      </p:sp>
      <p:sp>
        <p:nvSpPr>
          <p:cNvPr id="114" name="Google Shape;114;p2"/>
          <p:cNvSpPr txBox="1"/>
          <p:nvPr/>
        </p:nvSpPr>
        <p:spPr>
          <a:xfrm>
            <a:off x="9311926" y="4247455"/>
            <a:ext cx="7996923" cy="1467688"/>
          </a:xfrm>
          <a:prstGeom prst="rect">
            <a:avLst/>
          </a:prstGeom>
          <a:noFill/>
          <a:ln>
            <a:noFill/>
          </a:ln>
        </p:spPr>
        <p:txBody>
          <a:bodyPr anchorCtr="0" anchor="t" bIns="0" lIns="0" spcFirstLastPara="1" rIns="0" wrap="square" tIns="0">
            <a:spAutoFit/>
          </a:bodyPr>
          <a:lstStyle/>
          <a:p>
            <a:pPr indent="0" lvl="0" marL="0" marR="0" rtl="0" algn="l">
              <a:lnSpc>
                <a:spcPct val="187196"/>
              </a:lnSpc>
              <a:spcBef>
                <a:spcPts val="0"/>
              </a:spcBef>
              <a:spcAft>
                <a:spcPts val="0"/>
              </a:spcAft>
              <a:buNone/>
            </a:pPr>
            <a:r>
              <a:rPr b="0" i="0" lang="en-US" sz="2101" u="none" cap="none" strike="noStrike">
                <a:solidFill>
                  <a:srgbClr val="272525"/>
                </a:solidFill>
                <a:latin typeface="Inter"/>
                <a:ea typeface="Inter"/>
                <a:cs typeface="Inter"/>
                <a:sym typeface="Inter"/>
              </a:rPr>
              <a:t>Failed calls (1,214), incomplete calls (875), busy calls (1,270), and failed chats (7,256) represent operational bottlenecks requiring process optimization and workforce improvements.</a:t>
            </a:r>
            <a:endParaRPr/>
          </a:p>
        </p:txBody>
      </p:sp>
      <p:sp>
        <p:nvSpPr>
          <p:cNvPr descr="preencoded.png" id="115" name="Google Shape;115;p2"/>
          <p:cNvSpPr/>
          <p:nvPr/>
        </p:nvSpPr>
        <p:spPr>
          <a:xfrm>
            <a:off x="992991" y="6653203"/>
            <a:ext cx="676084" cy="676085"/>
          </a:xfrm>
          <a:custGeom>
            <a:rect b="b" l="l" r="r" t="t"/>
            <a:pathLst>
              <a:path extrusionOk="0" h="901446" w="901446">
                <a:moveTo>
                  <a:pt x="0" y="0"/>
                </a:moveTo>
                <a:lnTo>
                  <a:pt x="901446" y="0"/>
                </a:lnTo>
                <a:lnTo>
                  <a:pt x="901446" y="901446"/>
                </a:lnTo>
                <a:lnTo>
                  <a:pt x="0" y="901446"/>
                </a:lnTo>
                <a:lnTo>
                  <a:pt x="0" y="0"/>
                </a:lnTo>
                <a:close/>
              </a:path>
            </a:pathLst>
          </a:custGeom>
          <a:blipFill rotWithShape="1">
            <a:blip r:embed="rId5">
              <a:alphaModFix/>
            </a:blip>
            <a:stretch>
              <a:fillRect b="4" l="0" r="4" t="0"/>
            </a:stretch>
          </a:blipFill>
          <a:ln>
            <a:noFill/>
          </a:ln>
        </p:spPr>
      </p:sp>
      <p:sp>
        <p:nvSpPr>
          <p:cNvPr id="116" name="Google Shape;116;p2"/>
          <p:cNvSpPr txBox="1"/>
          <p:nvPr/>
        </p:nvSpPr>
        <p:spPr>
          <a:xfrm>
            <a:off x="992991" y="7565698"/>
            <a:ext cx="7996780" cy="508283"/>
          </a:xfrm>
          <a:prstGeom prst="rect">
            <a:avLst/>
          </a:prstGeom>
          <a:noFill/>
          <a:ln>
            <a:noFill/>
          </a:ln>
        </p:spPr>
        <p:txBody>
          <a:bodyPr anchorCtr="0" anchor="t" bIns="0" lIns="0" spcFirstLastPara="1" rIns="0" wrap="square" tIns="0">
            <a:spAutoFit/>
          </a:bodyPr>
          <a:lstStyle/>
          <a:p>
            <a:pPr indent="0" lvl="0" marL="0" marR="0" rtl="0" algn="l">
              <a:lnSpc>
                <a:spcPct val="149771"/>
              </a:lnSpc>
              <a:spcBef>
                <a:spcPts val="0"/>
              </a:spcBef>
              <a:spcAft>
                <a:spcPts val="0"/>
              </a:spcAft>
              <a:buNone/>
            </a:pPr>
            <a:r>
              <a:rPr b="1" i="0" lang="en-US" sz="2626" u="none" cap="none" strike="noStrike">
                <a:solidFill>
                  <a:srgbClr val="272525"/>
                </a:solidFill>
                <a:latin typeface="Inter"/>
                <a:ea typeface="Inter"/>
                <a:cs typeface="Inter"/>
                <a:sym typeface="Inter"/>
              </a:rPr>
              <a:t>Revenue Optimization Opportunities</a:t>
            </a:r>
            <a:endParaRPr/>
          </a:p>
        </p:txBody>
      </p:sp>
      <p:sp>
        <p:nvSpPr>
          <p:cNvPr id="117" name="Google Shape;117;p2"/>
          <p:cNvSpPr txBox="1"/>
          <p:nvPr/>
        </p:nvSpPr>
        <p:spPr>
          <a:xfrm>
            <a:off x="992991" y="8028565"/>
            <a:ext cx="7996780" cy="1467688"/>
          </a:xfrm>
          <a:prstGeom prst="rect">
            <a:avLst/>
          </a:prstGeom>
          <a:noFill/>
          <a:ln>
            <a:noFill/>
          </a:ln>
        </p:spPr>
        <p:txBody>
          <a:bodyPr anchorCtr="0" anchor="t" bIns="0" lIns="0" spcFirstLastPara="1" rIns="0" wrap="square" tIns="0">
            <a:spAutoFit/>
          </a:bodyPr>
          <a:lstStyle/>
          <a:p>
            <a:pPr indent="0" lvl="0" marL="0" marR="0" rtl="0" algn="l">
              <a:lnSpc>
                <a:spcPct val="187196"/>
              </a:lnSpc>
              <a:spcBef>
                <a:spcPts val="0"/>
              </a:spcBef>
              <a:spcAft>
                <a:spcPts val="0"/>
              </a:spcAft>
              <a:buNone/>
            </a:pPr>
            <a:r>
              <a:rPr b="0" i="0" lang="en-US" sz="2101" u="none" cap="none" strike="noStrike">
                <a:solidFill>
                  <a:srgbClr val="272525"/>
                </a:solidFill>
                <a:latin typeface="Inter"/>
                <a:ea typeface="Inter"/>
                <a:cs typeface="Inter"/>
                <a:sym typeface="Inter"/>
              </a:rPr>
              <a:t>Call consultations generate 78.72% of revenue while chat contributes 21.25%, presenting opportunities for service expansion and targeted business strategies.</a:t>
            </a:r>
            <a:endParaRPr/>
          </a:p>
        </p:txBody>
      </p:sp>
      <p:sp>
        <p:nvSpPr>
          <p:cNvPr descr="preencoded.png" id="118" name="Google Shape;118;p2"/>
          <p:cNvSpPr/>
          <p:nvPr/>
        </p:nvSpPr>
        <p:spPr>
          <a:xfrm>
            <a:off x="9311926" y="6653203"/>
            <a:ext cx="676084" cy="676085"/>
          </a:xfrm>
          <a:custGeom>
            <a:rect b="b" l="l" r="r" t="t"/>
            <a:pathLst>
              <a:path extrusionOk="0" h="901446" w="901446">
                <a:moveTo>
                  <a:pt x="0" y="0"/>
                </a:moveTo>
                <a:lnTo>
                  <a:pt x="901446" y="0"/>
                </a:lnTo>
                <a:lnTo>
                  <a:pt x="901446" y="901446"/>
                </a:lnTo>
                <a:lnTo>
                  <a:pt x="0" y="901446"/>
                </a:lnTo>
                <a:lnTo>
                  <a:pt x="0" y="0"/>
                </a:lnTo>
                <a:close/>
              </a:path>
            </a:pathLst>
          </a:custGeom>
          <a:blipFill rotWithShape="1">
            <a:blip r:embed="rId6">
              <a:alphaModFix/>
            </a:blip>
            <a:stretch>
              <a:fillRect b="4" l="0" r="4" t="0"/>
            </a:stretch>
          </a:blipFill>
          <a:ln>
            <a:noFill/>
          </a:ln>
        </p:spPr>
      </p:sp>
      <p:sp>
        <p:nvSpPr>
          <p:cNvPr id="119" name="Google Shape;119;p2"/>
          <p:cNvSpPr txBox="1"/>
          <p:nvPr/>
        </p:nvSpPr>
        <p:spPr>
          <a:xfrm>
            <a:off x="9311926" y="7565698"/>
            <a:ext cx="7996923" cy="508283"/>
          </a:xfrm>
          <a:prstGeom prst="rect">
            <a:avLst/>
          </a:prstGeom>
          <a:noFill/>
          <a:ln>
            <a:noFill/>
          </a:ln>
        </p:spPr>
        <p:txBody>
          <a:bodyPr anchorCtr="0" anchor="t" bIns="0" lIns="0" spcFirstLastPara="1" rIns="0" wrap="square" tIns="0">
            <a:spAutoFit/>
          </a:bodyPr>
          <a:lstStyle/>
          <a:p>
            <a:pPr indent="0" lvl="0" marL="0" marR="0" rtl="0" algn="l">
              <a:lnSpc>
                <a:spcPct val="149771"/>
              </a:lnSpc>
              <a:spcBef>
                <a:spcPts val="0"/>
              </a:spcBef>
              <a:spcAft>
                <a:spcPts val="0"/>
              </a:spcAft>
              <a:buNone/>
            </a:pPr>
            <a:r>
              <a:rPr b="1" i="0" lang="en-US" sz="2626" u="none" cap="none" strike="noStrike">
                <a:solidFill>
                  <a:srgbClr val="272525"/>
                </a:solidFill>
                <a:latin typeface="Inter"/>
                <a:ea typeface="Inter"/>
                <a:cs typeface="Inter"/>
                <a:sym typeface="Inter"/>
              </a:rPr>
              <a:t>Strategic Investment Decisions</a:t>
            </a:r>
            <a:endParaRPr/>
          </a:p>
        </p:txBody>
      </p:sp>
      <p:sp>
        <p:nvSpPr>
          <p:cNvPr id="120" name="Google Shape;120;p2"/>
          <p:cNvSpPr txBox="1"/>
          <p:nvPr/>
        </p:nvSpPr>
        <p:spPr>
          <a:xfrm>
            <a:off x="9311926" y="8028565"/>
            <a:ext cx="7996923" cy="1467688"/>
          </a:xfrm>
          <a:prstGeom prst="rect">
            <a:avLst/>
          </a:prstGeom>
          <a:noFill/>
          <a:ln>
            <a:noFill/>
          </a:ln>
        </p:spPr>
        <p:txBody>
          <a:bodyPr anchorCtr="0" anchor="t" bIns="0" lIns="0" spcFirstLastPara="1" rIns="0" wrap="square" tIns="0">
            <a:spAutoFit/>
          </a:bodyPr>
          <a:lstStyle/>
          <a:p>
            <a:pPr indent="0" lvl="0" marL="0" marR="0" rtl="0" algn="l">
              <a:lnSpc>
                <a:spcPct val="187196"/>
              </a:lnSpc>
              <a:spcBef>
                <a:spcPts val="0"/>
              </a:spcBef>
              <a:spcAft>
                <a:spcPts val="0"/>
              </a:spcAft>
              <a:buNone/>
            </a:pPr>
            <a:r>
              <a:rPr b="0" i="0" lang="en-US" sz="2101" u="none" cap="none" strike="noStrike">
                <a:solidFill>
                  <a:srgbClr val="272525"/>
                </a:solidFill>
                <a:latin typeface="Inter"/>
                <a:ea typeface="Inter"/>
                <a:cs typeface="Inter"/>
                <a:sym typeface="Inter"/>
              </a:rPr>
              <a:t>Need to allocate resources strategically based on historical data to optimize peak-hour performance (6 AM - 4 PM), improve customer satisfaction, and maximize revenue growth.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8" name="Shape 128"/>
        <p:cNvGrpSpPr/>
        <p:nvPr/>
      </p:nvGrpSpPr>
      <p:grpSpPr>
        <a:xfrm>
          <a:off x="0" y="0"/>
          <a:ext cx="0" cy="0"/>
          <a:chOff x="0" y="0"/>
          <a:chExt cx="0" cy="0"/>
        </a:xfrm>
      </p:grpSpPr>
      <p:sp>
        <p:nvSpPr>
          <p:cNvPr id="129" name="Google Shape;129;p3"/>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130" name="Google Shape;130;p3"/>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131" name="Google Shape;131;p3"/>
          <p:cNvSpPr txBox="1"/>
          <p:nvPr/>
        </p:nvSpPr>
        <p:spPr>
          <a:xfrm>
            <a:off x="992991" y="681533"/>
            <a:ext cx="16315868" cy="891026"/>
          </a:xfrm>
          <a:prstGeom prst="rect">
            <a:avLst/>
          </a:prstGeom>
          <a:noFill/>
          <a:ln>
            <a:noFill/>
          </a:ln>
        </p:spPr>
        <p:txBody>
          <a:bodyPr anchorCtr="0" anchor="t" bIns="0" lIns="0" spcFirstLastPara="1" rIns="0" wrap="square" tIns="0">
            <a:spAutoFit/>
          </a:bodyPr>
          <a:lstStyle/>
          <a:p>
            <a:pPr indent="0" lvl="0" marL="0" marR="0" rtl="0" algn="l">
              <a:lnSpc>
                <a:spcPct val="149752"/>
              </a:lnSpc>
              <a:spcBef>
                <a:spcPts val="0"/>
              </a:spcBef>
              <a:spcAft>
                <a:spcPts val="0"/>
              </a:spcAft>
              <a:buNone/>
            </a:pPr>
            <a:r>
              <a:rPr b="1" i="0" lang="en-US" sz="4653" u="none" cap="none" strike="noStrike">
                <a:solidFill>
                  <a:srgbClr val="000000"/>
                </a:solidFill>
                <a:latin typeface="Inter"/>
                <a:ea typeface="Inter"/>
                <a:cs typeface="Inter"/>
                <a:sym typeface="Inter"/>
              </a:rPr>
              <a:t>Dataset Overview &amp; Methodology</a:t>
            </a:r>
            <a:endParaRPr/>
          </a:p>
        </p:txBody>
      </p:sp>
      <p:sp>
        <p:nvSpPr>
          <p:cNvPr descr="preencoded.png" id="132" name="Google Shape;132;p3"/>
          <p:cNvSpPr/>
          <p:nvPr/>
        </p:nvSpPr>
        <p:spPr>
          <a:xfrm>
            <a:off x="992991" y="2102653"/>
            <a:ext cx="598456" cy="598456"/>
          </a:xfrm>
          <a:custGeom>
            <a:rect b="b" l="l" r="r" t="t"/>
            <a:pathLst>
              <a:path extrusionOk="0" h="797941" w="797941">
                <a:moveTo>
                  <a:pt x="0" y="0"/>
                </a:moveTo>
                <a:lnTo>
                  <a:pt x="797941" y="0"/>
                </a:lnTo>
                <a:lnTo>
                  <a:pt x="797941" y="797941"/>
                </a:lnTo>
                <a:lnTo>
                  <a:pt x="0" y="797941"/>
                </a:lnTo>
                <a:lnTo>
                  <a:pt x="0" y="0"/>
                </a:lnTo>
                <a:close/>
              </a:path>
            </a:pathLst>
          </a:custGeom>
          <a:blipFill rotWithShape="1">
            <a:blip r:embed="rId3">
              <a:alphaModFix/>
            </a:blip>
            <a:stretch>
              <a:fillRect b="0" l="0" r="0" t="0"/>
            </a:stretch>
          </a:blipFill>
          <a:ln>
            <a:noFill/>
          </a:ln>
        </p:spPr>
      </p:sp>
      <p:sp>
        <p:nvSpPr>
          <p:cNvPr id="133" name="Google Shape;133;p3"/>
          <p:cNvSpPr txBox="1"/>
          <p:nvPr/>
        </p:nvSpPr>
        <p:spPr>
          <a:xfrm>
            <a:off x="992991" y="2867844"/>
            <a:ext cx="7865859" cy="459724"/>
          </a:xfrm>
          <a:prstGeom prst="rect">
            <a:avLst/>
          </a:prstGeom>
          <a:noFill/>
          <a:ln>
            <a:noFill/>
          </a:ln>
        </p:spPr>
        <p:txBody>
          <a:bodyPr anchorCtr="0" anchor="t" bIns="0" lIns="0" spcFirstLastPara="1" rIns="0" wrap="square" tIns="0">
            <a:spAutoFit/>
          </a:bodyPr>
          <a:lstStyle/>
          <a:p>
            <a:pPr indent="0" lvl="0" marL="0" marR="0" rtl="0" algn="l">
              <a:lnSpc>
                <a:spcPct val="149742"/>
              </a:lnSpc>
              <a:spcBef>
                <a:spcPts val="0"/>
              </a:spcBef>
              <a:spcAft>
                <a:spcPts val="0"/>
              </a:spcAft>
              <a:buNone/>
            </a:pPr>
            <a:r>
              <a:rPr b="1" i="0" lang="en-US" sz="2326" u="none" cap="none" strike="noStrike">
                <a:solidFill>
                  <a:srgbClr val="272525"/>
                </a:solidFill>
                <a:latin typeface="Inter"/>
                <a:ea typeface="Inter"/>
                <a:cs typeface="Inter"/>
                <a:sym typeface="Inter"/>
              </a:rPr>
              <a:t>Dataset at a Glance</a:t>
            </a:r>
            <a:endParaRPr/>
          </a:p>
        </p:txBody>
      </p:sp>
      <p:sp>
        <p:nvSpPr>
          <p:cNvPr id="134" name="Google Shape;134;p3"/>
          <p:cNvSpPr txBox="1"/>
          <p:nvPr/>
        </p:nvSpPr>
        <p:spPr>
          <a:xfrm>
            <a:off x="992991" y="3377136"/>
            <a:ext cx="7865859" cy="2835192"/>
          </a:xfrm>
          <a:prstGeom prst="rect">
            <a:avLst/>
          </a:prstGeom>
          <a:noFill/>
          <a:ln>
            <a:noFill/>
          </a:ln>
        </p:spPr>
        <p:txBody>
          <a:bodyPr anchorCtr="0" anchor="t" bIns="0" lIns="0" spcFirstLastPara="1" rIns="0" wrap="square" tIns="0">
            <a:spAutoFit/>
          </a:bodyPr>
          <a:lstStyle/>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28,027 total customer interactions across call and chat channels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35+ business attributes spanning customer interactions, ratings, sales, operational costs, consultation types, and guru performance metrics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Comprehensive data on customer satisfaction, revenue generation, and operational efficiency</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Guru and user profile information for performance analysis</a:t>
            </a:r>
            <a:endParaRPr/>
          </a:p>
        </p:txBody>
      </p:sp>
      <p:sp>
        <p:nvSpPr>
          <p:cNvPr descr="preencoded.png" id="135" name="Google Shape;135;p3"/>
          <p:cNvSpPr/>
          <p:nvPr/>
        </p:nvSpPr>
        <p:spPr>
          <a:xfrm>
            <a:off x="992991" y="6616265"/>
            <a:ext cx="598456" cy="598456"/>
          </a:xfrm>
          <a:custGeom>
            <a:rect b="b" l="l" r="r" t="t"/>
            <a:pathLst>
              <a:path extrusionOk="0" h="797941" w="797941">
                <a:moveTo>
                  <a:pt x="0" y="0"/>
                </a:moveTo>
                <a:lnTo>
                  <a:pt x="797941" y="0"/>
                </a:lnTo>
                <a:lnTo>
                  <a:pt x="797941" y="797941"/>
                </a:lnTo>
                <a:lnTo>
                  <a:pt x="0" y="797941"/>
                </a:lnTo>
                <a:lnTo>
                  <a:pt x="0" y="0"/>
                </a:lnTo>
                <a:close/>
              </a:path>
            </a:pathLst>
          </a:custGeom>
          <a:blipFill rotWithShape="1">
            <a:blip r:embed="rId4">
              <a:alphaModFix/>
            </a:blip>
            <a:stretch>
              <a:fillRect b="0" l="0" r="0" t="0"/>
            </a:stretch>
          </a:blipFill>
          <a:ln>
            <a:noFill/>
          </a:ln>
        </p:spPr>
      </p:sp>
      <p:sp>
        <p:nvSpPr>
          <p:cNvPr id="136" name="Google Shape;136;p3"/>
          <p:cNvSpPr txBox="1"/>
          <p:nvPr/>
        </p:nvSpPr>
        <p:spPr>
          <a:xfrm>
            <a:off x="992991" y="7381456"/>
            <a:ext cx="7865859" cy="459724"/>
          </a:xfrm>
          <a:prstGeom prst="rect">
            <a:avLst/>
          </a:prstGeom>
          <a:noFill/>
          <a:ln>
            <a:noFill/>
          </a:ln>
        </p:spPr>
        <p:txBody>
          <a:bodyPr anchorCtr="0" anchor="t" bIns="0" lIns="0" spcFirstLastPara="1" rIns="0" wrap="square" tIns="0">
            <a:spAutoFit/>
          </a:bodyPr>
          <a:lstStyle/>
          <a:p>
            <a:pPr indent="0" lvl="0" marL="0" marR="0" rtl="0" algn="l">
              <a:lnSpc>
                <a:spcPct val="149742"/>
              </a:lnSpc>
              <a:spcBef>
                <a:spcPts val="0"/>
              </a:spcBef>
              <a:spcAft>
                <a:spcPts val="0"/>
              </a:spcAft>
              <a:buNone/>
            </a:pPr>
            <a:r>
              <a:rPr b="1" i="0" lang="en-US" sz="2326" u="none" cap="none" strike="noStrike">
                <a:solidFill>
                  <a:srgbClr val="272525"/>
                </a:solidFill>
                <a:latin typeface="Inter"/>
                <a:ea typeface="Inter"/>
                <a:cs typeface="Inter"/>
                <a:sym typeface="Inter"/>
              </a:rPr>
              <a:t>Data Cleaning &amp; Preparation</a:t>
            </a:r>
            <a:endParaRPr/>
          </a:p>
        </p:txBody>
      </p:sp>
      <p:sp>
        <p:nvSpPr>
          <p:cNvPr id="137" name="Google Shape;137;p3"/>
          <p:cNvSpPr txBox="1"/>
          <p:nvPr/>
        </p:nvSpPr>
        <p:spPr>
          <a:xfrm>
            <a:off x="992991" y="7890748"/>
            <a:ext cx="7865859" cy="1352598"/>
          </a:xfrm>
          <a:prstGeom prst="rect">
            <a:avLst/>
          </a:prstGeom>
          <a:noFill/>
          <a:ln>
            <a:noFill/>
          </a:ln>
        </p:spPr>
        <p:txBody>
          <a:bodyPr anchorCtr="0" anchor="t" bIns="0" lIns="0" spcFirstLastPara="1" rIns="0" wrap="square" tIns="0">
            <a:spAutoFit/>
          </a:bodyPr>
          <a:lstStyle/>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Removed duplicates and trimmed whitespace</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Standardized guru names and corrected inconsistencies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Handled missing values; validated data types</a:t>
            </a:r>
            <a:endParaRPr/>
          </a:p>
        </p:txBody>
      </p:sp>
      <p:sp>
        <p:nvSpPr>
          <p:cNvPr descr="preencoded.png" id="138" name="Google Shape;138;p3"/>
          <p:cNvSpPr/>
          <p:nvPr/>
        </p:nvSpPr>
        <p:spPr>
          <a:xfrm>
            <a:off x="9452524" y="2102653"/>
            <a:ext cx="598456" cy="598456"/>
          </a:xfrm>
          <a:custGeom>
            <a:rect b="b" l="l" r="r" t="t"/>
            <a:pathLst>
              <a:path extrusionOk="0" h="797941" w="797941">
                <a:moveTo>
                  <a:pt x="0" y="0"/>
                </a:moveTo>
                <a:lnTo>
                  <a:pt x="797941" y="0"/>
                </a:lnTo>
                <a:lnTo>
                  <a:pt x="797941" y="797941"/>
                </a:lnTo>
                <a:lnTo>
                  <a:pt x="0" y="797941"/>
                </a:lnTo>
                <a:lnTo>
                  <a:pt x="0" y="0"/>
                </a:lnTo>
                <a:close/>
              </a:path>
            </a:pathLst>
          </a:custGeom>
          <a:blipFill rotWithShape="1">
            <a:blip r:embed="rId5">
              <a:alphaModFix/>
            </a:blip>
            <a:stretch>
              <a:fillRect b="0" l="0" r="0" t="0"/>
            </a:stretch>
          </a:blipFill>
          <a:ln>
            <a:noFill/>
          </a:ln>
        </p:spPr>
      </p:sp>
      <p:sp>
        <p:nvSpPr>
          <p:cNvPr id="139" name="Google Shape;139;p3"/>
          <p:cNvSpPr txBox="1"/>
          <p:nvPr/>
        </p:nvSpPr>
        <p:spPr>
          <a:xfrm>
            <a:off x="9452524" y="2867844"/>
            <a:ext cx="7865859" cy="459724"/>
          </a:xfrm>
          <a:prstGeom prst="rect">
            <a:avLst/>
          </a:prstGeom>
          <a:noFill/>
          <a:ln>
            <a:noFill/>
          </a:ln>
        </p:spPr>
        <p:txBody>
          <a:bodyPr anchorCtr="0" anchor="t" bIns="0" lIns="0" spcFirstLastPara="1" rIns="0" wrap="square" tIns="0">
            <a:spAutoFit/>
          </a:bodyPr>
          <a:lstStyle/>
          <a:p>
            <a:pPr indent="0" lvl="0" marL="0" marR="0" rtl="0" algn="l">
              <a:lnSpc>
                <a:spcPct val="149742"/>
              </a:lnSpc>
              <a:spcBef>
                <a:spcPts val="0"/>
              </a:spcBef>
              <a:spcAft>
                <a:spcPts val="0"/>
              </a:spcAft>
              <a:buNone/>
            </a:pPr>
            <a:r>
              <a:rPr b="1" i="0" lang="en-US" sz="2326" u="none" cap="none" strike="noStrike">
                <a:solidFill>
                  <a:srgbClr val="272525"/>
                </a:solidFill>
                <a:latin typeface="Inter"/>
                <a:ea typeface="Inter"/>
                <a:cs typeface="Inter"/>
                <a:sym typeface="Inter"/>
              </a:rPr>
              <a:t>Spreadsheet Functions &amp; Tools Applied</a:t>
            </a:r>
            <a:endParaRPr/>
          </a:p>
        </p:txBody>
      </p:sp>
      <p:sp>
        <p:nvSpPr>
          <p:cNvPr id="140" name="Google Shape;140;p3"/>
          <p:cNvSpPr txBox="1"/>
          <p:nvPr/>
        </p:nvSpPr>
        <p:spPr>
          <a:xfrm>
            <a:off x="9452524" y="3377136"/>
            <a:ext cx="7865859" cy="5023780"/>
          </a:xfrm>
          <a:prstGeom prst="rect">
            <a:avLst/>
          </a:prstGeom>
          <a:noFill/>
          <a:ln>
            <a:noFill/>
          </a:ln>
        </p:spPr>
        <p:txBody>
          <a:bodyPr anchorCtr="0" anchor="t" bIns="0" lIns="0" spcFirstLastPara="1" rIns="0" wrap="square" tIns="0">
            <a:spAutoFit/>
          </a:bodyPr>
          <a:lstStyle/>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Pivot Tables for multi-dimensional analysis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SUM() for aggregation</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COUNTA() for counting records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AVERAGE() for mean calculations (Average Daily Calls: 246.03 calculated using total interactions divided by available business dates)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COUNTUNIQUE() for distinct values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FILTER() for data segmentation</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SORT() for data organization</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CORREL() for correlation analysis</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Column, Pie, Line, and Combo Charts for visualization</a:t>
            </a:r>
            <a:endParaRPr/>
          </a:p>
          <a:p>
            <a:pPr indent="-132090" lvl="2" marL="396269" marR="0" rtl="0" algn="l">
              <a:lnSpc>
                <a:spcPct val="177078"/>
              </a:lnSpc>
              <a:spcBef>
                <a:spcPts val="0"/>
              </a:spcBef>
              <a:spcAft>
                <a:spcPts val="0"/>
              </a:spcAft>
              <a:buClr>
                <a:srgbClr val="272525"/>
              </a:buClr>
              <a:buSzPts val="1876"/>
              <a:buFont typeface="Arial"/>
              <a:buChar char="⚬"/>
            </a:pPr>
            <a:r>
              <a:rPr b="0" i="0" lang="en-US" sz="1876" u="none" cap="none" strike="noStrike">
                <a:solidFill>
                  <a:srgbClr val="272525"/>
                </a:solidFill>
                <a:latin typeface="Inter"/>
                <a:ea typeface="Inter"/>
                <a:cs typeface="Inter"/>
                <a:sym typeface="Inter"/>
              </a:rPr>
              <a:t>Interactive Dashboards with Slicers for performance monitoring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8" name="Shape 148"/>
        <p:cNvGrpSpPr/>
        <p:nvPr/>
      </p:nvGrpSpPr>
      <p:grpSpPr>
        <a:xfrm>
          <a:off x="0" y="0"/>
          <a:ext cx="0" cy="0"/>
          <a:chOff x="0" y="0"/>
          <a:chExt cx="0" cy="0"/>
        </a:xfrm>
      </p:grpSpPr>
      <p:sp>
        <p:nvSpPr>
          <p:cNvPr id="149" name="Google Shape;149;p4"/>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150" name="Google Shape;150;p4"/>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151" name="Google Shape;151;p4"/>
          <p:cNvSpPr txBox="1"/>
          <p:nvPr/>
        </p:nvSpPr>
        <p:spPr>
          <a:xfrm>
            <a:off x="992991" y="653386"/>
            <a:ext cx="16315868" cy="817435"/>
          </a:xfrm>
          <a:prstGeom prst="rect">
            <a:avLst/>
          </a:prstGeom>
          <a:noFill/>
          <a:ln>
            <a:noFill/>
          </a:ln>
        </p:spPr>
        <p:txBody>
          <a:bodyPr anchorCtr="0" anchor="t" bIns="0" lIns="0" spcFirstLastPara="1" rIns="0" wrap="square" tIns="0">
            <a:spAutoFit/>
          </a:bodyPr>
          <a:lstStyle/>
          <a:p>
            <a:pPr indent="0" lvl="0" marL="0" marR="0" rtl="0" algn="l">
              <a:lnSpc>
                <a:spcPct val="149757"/>
              </a:lnSpc>
              <a:spcBef>
                <a:spcPts val="0"/>
              </a:spcBef>
              <a:spcAft>
                <a:spcPts val="0"/>
              </a:spcAft>
              <a:buNone/>
            </a:pPr>
            <a:r>
              <a:rPr b="1" i="0" lang="en-US" sz="4128" u="none" cap="none" strike="noStrike">
                <a:solidFill>
                  <a:srgbClr val="000000"/>
                </a:solidFill>
                <a:latin typeface="Inter"/>
                <a:ea typeface="Inter"/>
                <a:cs typeface="Inter"/>
                <a:sym typeface="Inter"/>
              </a:rPr>
              <a:t>Key Performance Indicators</a:t>
            </a:r>
            <a:endParaRPr/>
          </a:p>
        </p:txBody>
      </p:sp>
      <p:sp>
        <p:nvSpPr>
          <p:cNvPr id="152" name="Google Shape;152;p4"/>
          <p:cNvSpPr txBox="1"/>
          <p:nvPr/>
        </p:nvSpPr>
        <p:spPr>
          <a:xfrm>
            <a:off x="992991" y="2020186"/>
            <a:ext cx="8058140"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28,027</a:t>
            </a:r>
            <a:endParaRPr/>
          </a:p>
        </p:txBody>
      </p:sp>
      <p:sp>
        <p:nvSpPr>
          <p:cNvPr id="153" name="Google Shape;153;p4"/>
          <p:cNvSpPr txBox="1"/>
          <p:nvPr/>
        </p:nvSpPr>
        <p:spPr>
          <a:xfrm>
            <a:off x="992991" y="2691232"/>
            <a:ext cx="8058140"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Total Calls</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Across all consultation categories</a:t>
            </a:r>
            <a:endParaRPr/>
          </a:p>
        </p:txBody>
      </p:sp>
      <p:sp>
        <p:nvSpPr>
          <p:cNvPr id="154" name="Google Shape;154;p4"/>
          <p:cNvSpPr txBox="1"/>
          <p:nvPr/>
        </p:nvSpPr>
        <p:spPr>
          <a:xfrm>
            <a:off x="9250566" y="2020186"/>
            <a:ext cx="8058293"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₹214,065.90</a:t>
            </a:r>
            <a:endParaRPr/>
          </a:p>
        </p:txBody>
      </p:sp>
      <p:sp>
        <p:nvSpPr>
          <p:cNvPr id="155" name="Google Shape;155;p4"/>
          <p:cNvSpPr txBox="1"/>
          <p:nvPr/>
        </p:nvSpPr>
        <p:spPr>
          <a:xfrm>
            <a:off x="9250566" y="2691232"/>
            <a:ext cx="8058293"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Total Sales</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Revenue generated from all consultations</a:t>
            </a:r>
            <a:endParaRPr/>
          </a:p>
        </p:txBody>
      </p:sp>
      <p:sp>
        <p:nvSpPr>
          <p:cNvPr id="156" name="Google Shape;156;p4"/>
          <p:cNvSpPr txBox="1"/>
          <p:nvPr/>
        </p:nvSpPr>
        <p:spPr>
          <a:xfrm>
            <a:off x="992991" y="4065346"/>
            <a:ext cx="8058140"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₹99,146.57</a:t>
            </a:r>
            <a:endParaRPr/>
          </a:p>
        </p:txBody>
      </p:sp>
      <p:sp>
        <p:nvSpPr>
          <p:cNvPr id="157" name="Google Shape;157;p4"/>
          <p:cNvSpPr txBox="1"/>
          <p:nvPr/>
        </p:nvSpPr>
        <p:spPr>
          <a:xfrm>
            <a:off x="992991" y="4736392"/>
            <a:ext cx="8058140"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Operational Cost</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Total operational expenses</a:t>
            </a:r>
            <a:endParaRPr/>
          </a:p>
        </p:txBody>
      </p:sp>
      <p:sp>
        <p:nvSpPr>
          <p:cNvPr id="158" name="Google Shape;158;p4"/>
          <p:cNvSpPr txBox="1"/>
          <p:nvPr/>
        </p:nvSpPr>
        <p:spPr>
          <a:xfrm>
            <a:off x="9250566" y="4065346"/>
            <a:ext cx="8058293"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2.93</a:t>
            </a:r>
            <a:endParaRPr/>
          </a:p>
        </p:txBody>
      </p:sp>
      <p:sp>
        <p:nvSpPr>
          <p:cNvPr id="159" name="Google Shape;159;p4"/>
          <p:cNvSpPr txBox="1"/>
          <p:nvPr/>
        </p:nvSpPr>
        <p:spPr>
          <a:xfrm>
            <a:off x="9250566" y="4736392"/>
            <a:ext cx="8058293"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Average Rating / 5.0</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Customer satisfaction score</a:t>
            </a:r>
            <a:endParaRPr/>
          </a:p>
        </p:txBody>
      </p:sp>
      <p:sp>
        <p:nvSpPr>
          <p:cNvPr id="160" name="Google Shape;160;p4"/>
          <p:cNvSpPr txBox="1"/>
          <p:nvPr/>
        </p:nvSpPr>
        <p:spPr>
          <a:xfrm>
            <a:off x="992991" y="6110497"/>
            <a:ext cx="8058140"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5,054</a:t>
            </a:r>
            <a:endParaRPr/>
          </a:p>
        </p:txBody>
      </p:sp>
      <p:sp>
        <p:nvSpPr>
          <p:cNvPr id="161" name="Google Shape;161;p4"/>
          <p:cNvSpPr txBox="1"/>
          <p:nvPr/>
        </p:nvSpPr>
        <p:spPr>
          <a:xfrm>
            <a:off x="992991" y="6781543"/>
            <a:ext cx="8058140"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Repeat Callers</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Returning customers</a:t>
            </a:r>
            <a:endParaRPr/>
          </a:p>
        </p:txBody>
      </p:sp>
      <p:sp>
        <p:nvSpPr>
          <p:cNvPr id="162" name="Google Shape;162;p4"/>
          <p:cNvSpPr txBox="1"/>
          <p:nvPr/>
        </p:nvSpPr>
        <p:spPr>
          <a:xfrm>
            <a:off x="9250566" y="6110497"/>
            <a:ext cx="8058293" cy="578444"/>
          </a:xfrm>
          <a:prstGeom prst="rect">
            <a:avLst/>
          </a:prstGeom>
          <a:noFill/>
          <a:ln>
            <a:noFill/>
          </a:ln>
        </p:spPr>
        <p:txBody>
          <a:bodyPr anchorCtr="0" anchor="t" bIns="0" lIns="0" spcFirstLastPara="1" rIns="0" wrap="square" tIns="0">
            <a:spAutoFit/>
          </a:bodyPr>
          <a:lstStyle/>
          <a:p>
            <a:pPr indent="0" lvl="0" marL="0" marR="0" rtl="0" algn="ctr">
              <a:lnSpc>
                <a:spcPct val="119532"/>
              </a:lnSpc>
              <a:spcBef>
                <a:spcPts val="0"/>
              </a:spcBef>
              <a:spcAft>
                <a:spcPts val="0"/>
              </a:spcAft>
              <a:buNone/>
            </a:pPr>
            <a:r>
              <a:rPr b="1" i="0" lang="en-US" sz="5478" u="none" cap="none" strike="noStrike">
                <a:solidFill>
                  <a:srgbClr val="272525"/>
                </a:solidFill>
                <a:latin typeface="Inter"/>
                <a:ea typeface="Inter"/>
                <a:cs typeface="Inter"/>
                <a:sym typeface="Inter"/>
              </a:rPr>
              <a:t>246.03</a:t>
            </a:r>
            <a:endParaRPr/>
          </a:p>
        </p:txBody>
      </p:sp>
      <p:sp>
        <p:nvSpPr>
          <p:cNvPr id="163" name="Google Shape;163;p4"/>
          <p:cNvSpPr txBox="1"/>
          <p:nvPr/>
        </p:nvSpPr>
        <p:spPr>
          <a:xfrm>
            <a:off x="9250566" y="6781543"/>
            <a:ext cx="8058293" cy="824751"/>
          </a:xfrm>
          <a:prstGeom prst="rect">
            <a:avLst/>
          </a:prstGeom>
          <a:noFill/>
          <a:ln>
            <a:noFill/>
          </a:ln>
        </p:spPr>
        <p:txBody>
          <a:bodyPr anchorCtr="0" anchor="t" bIns="0" lIns="0" spcFirstLastPara="1" rIns="0" wrap="square" tIns="0">
            <a:spAutoFit/>
          </a:bodyPr>
          <a:lstStyle/>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Average Daily Calls</a:t>
            </a:r>
            <a:endParaRPr/>
          </a:p>
          <a:p>
            <a:pPr indent="0" lvl="0" marL="0" marR="0" rtl="0" algn="ctr">
              <a:lnSpc>
                <a:spcPct val="168443"/>
              </a:lnSpc>
              <a:spcBef>
                <a:spcPts val="0"/>
              </a:spcBef>
              <a:spcAft>
                <a:spcPts val="0"/>
              </a:spcAft>
              <a:buNone/>
            </a:pPr>
            <a:r>
              <a:rPr b="0" i="0" lang="en-US" sz="1651" u="none" cap="none" strike="noStrike">
                <a:solidFill>
                  <a:srgbClr val="272525"/>
                </a:solidFill>
                <a:latin typeface="Inter"/>
                <a:ea typeface="Inter"/>
                <a:cs typeface="Inter"/>
                <a:sym typeface="Inter"/>
              </a:rPr>
              <a:t>Daily call volume average</a:t>
            </a:r>
            <a:endParaRPr/>
          </a:p>
        </p:txBody>
      </p:sp>
      <p:sp>
        <p:nvSpPr>
          <p:cNvPr id="164" name="Google Shape;164;p4"/>
          <p:cNvSpPr txBox="1"/>
          <p:nvPr/>
        </p:nvSpPr>
        <p:spPr>
          <a:xfrm>
            <a:off x="992991" y="7740872"/>
            <a:ext cx="16315868" cy="503644"/>
          </a:xfrm>
          <a:prstGeom prst="rect">
            <a:avLst/>
          </a:prstGeom>
          <a:noFill/>
          <a:ln>
            <a:noFill/>
          </a:ln>
        </p:spPr>
        <p:txBody>
          <a:bodyPr anchorCtr="0" anchor="t" bIns="0" lIns="0" spcFirstLastPara="1" rIns="0" wrap="square" tIns="0">
            <a:spAutoFit/>
          </a:bodyPr>
          <a:lstStyle/>
          <a:p>
            <a:pPr indent="0" lvl="0" marL="0" marR="0" rtl="0" algn="l">
              <a:lnSpc>
                <a:spcPct val="149798"/>
              </a:lnSpc>
              <a:spcBef>
                <a:spcPts val="0"/>
              </a:spcBef>
              <a:spcAft>
                <a:spcPts val="0"/>
              </a:spcAft>
              <a:buNone/>
            </a:pPr>
            <a:r>
              <a:rPr b="1" i="0" lang="en-US" sz="2476" u="none" cap="none" strike="noStrike">
                <a:solidFill>
                  <a:srgbClr val="000000"/>
                </a:solidFill>
                <a:latin typeface="Inter"/>
                <a:ea typeface="Inter"/>
                <a:cs typeface="Inter"/>
                <a:sym typeface="Inter"/>
              </a:rPr>
              <a:t>Key Insights</a:t>
            </a:r>
            <a:endParaRPr/>
          </a:p>
        </p:txBody>
      </p:sp>
      <p:sp>
        <p:nvSpPr>
          <p:cNvPr id="165" name="Google Shape;165;p4"/>
          <p:cNvSpPr txBox="1"/>
          <p:nvPr/>
        </p:nvSpPr>
        <p:spPr>
          <a:xfrm>
            <a:off x="992991" y="8350529"/>
            <a:ext cx="16315868" cy="1152831"/>
          </a:xfrm>
          <a:prstGeom prst="rect">
            <a:avLst/>
          </a:prstGeom>
          <a:noFill/>
          <a:ln>
            <a:noFill/>
          </a:ln>
        </p:spPr>
        <p:txBody>
          <a:bodyPr anchorCtr="0" anchor="t" bIns="0" lIns="0" spcFirstLastPara="1" rIns="0" wrap="square" tIns="0">
            <a:spAutoFit/>
          </a:bodyPr>
          <a:lstStyle/>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Strong revenue base of ₹214K with operational costs of ₹99K, indicating healthy profit margins</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Customer satisfaction at 2.93/5 indicates significant room for improvement through service optimization</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5,054 repeat callers demonstrate customer loyalty despite satisfaction gaps, representing retention opportunity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3" name="Shape 173"/>
        <p:cNvGrpSpPr/>
        <p:nvPr/>
      </p:nvGrpSpPr>
      <p:grpSpPr>
        <a:xfrm>
          <a:off x="0" y="0"/>
          <a:ext cx="0" cy="0"/>
          <a:chOff x="0" y="0"/>
          <a:chExt cx="0" cy="0"/>
        </a:xfrm>
      </p:grpSpPr>
      <p:sp>
        <p:nvSpPr>
          <p:cNvPr id="174" name="Google Shape;174;p5"/>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175" name="Google Shape;175;p5"/>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176" name="Google Shape;176;p5"/>
          <p:cNvSpPr/>
          <p:nvPr/>
        </p:nvSpPr>
        <p:spPr>
          <a:xfrm>
            <a:off x="992991" y="1365371"/>
            <a:ext cx="9685542" cy="5424035"/>
          </a:xfrm>
          <a:custGeom>
            <a:rect b="b" l="l" r="r" t="t"/>
            <a:pathLst>
              <a:path extrusionOk="0" h="10947908" w="19549363">
                <a:moveTo>
                  <a:pt x="0" y="0"/>
                </a:moveTo>
                <a:lnTo>
                  <a:pt x="19549363" y="0"/>
                </a:lnTo>
                <a:lnTo>
                  <a:pt x="19549363" y="10947908"/>
                </a:lnTo>
                <a:lnTo>
                  <a:pt x="0" y="10947908"/>
                </a:lnTo>
                <a:lnTo>
                  <a:pt x="0" y="0"/>
                </a:lnTo>
                <a:close/>
              </a:path>
            </a:pathLst>
          </a:custGeom>
          <a:blipFill rotWithShape="1">
            <a:blip r:embed="rId3">
              <a:alphaModFix/>
            </a:blip>
            <a:stretch>
              <a:fillRect b="0" l="-854" r="-854" t="-12090"/>
            </a:stretch>
          </a:blipFill>
          <a:ln>
            <a:noFill/>
          </a:ln>
        </p:spPr>
      </p:sp>
      <p:sp>
        <p:nvSpPr>
          <p:cNvPr id="177" name="Google Shape;177;p5"/>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Monthly Call Volume Analysis</a:t>
            </a:r>
            <a:endParaRPr/>
          </a:p>
        </p:txBody>
      </p:sp>
      <p:sp>
        <p:nvSpPr>
          <p:cNvPr id="178" name="Google Shape;178;p5"/>
          <p:cNvSpPr txBox="1"/>
          <p:nvPr/>
        </p:nvSpPr>
        <p:spPr>
          <a:xfrm>
            <a:off x="1028700" y="6989405"/>
            <a:ext cx="16315868" cy="503644"/>
          </a:xfrm>
          <a:prstGeom prst="rect">
            <a:avLst/>
          </a:prstGeom>
          <a:noFill/>
          <a:ln>
            <a:noFill/>
          </a:ln>
        </p:spPr>
        <p:txBody>
          <a:bodyPr anchorCtr="0" anchor="t" bIns="0" lIns="0" spcFirstLastPara="1" rIns="0" wrap="square" tIns="0">
            <a:spAutoFit/>
          </a:bodyPr>
          <a:lstStyle/>
          <a:p>
            <a:pPr indent="0" lvl="0" marL="0" marR="0" rtl="0" algn="l">
              <a:lnSpc>
                <a:spcPct val="149798"/>
              </a:lnSpc>
              <a:spcBef>
                <a:spcPts val="0"/>
              </a:spcBef>
              <a:spcAft>
                <a:spcPts val="0"/>
              </a:spcAft>
              <a:buNone/>
            </a:pPr>
            <a:r>
              <a:rPr b="1" i="0" lang="en-US" sz="2476" u="none" cap="none" strike="noStrike">
                <a:solidFill>
                  <a:srgbClr val="000000"/>
                </a:solidFill>
                <a:latin typeface="Inter"/>
                <a:ea typeface="Inter"/>
                <a:cs typeface="Inter"/>
                <a:sym typeface="Inter"/>
              </a:rPr>
              <a:t>Key Insights</a:t>
            </a:r>
            <a:endParaRPr/>
          </a:p>
        </p:txBody>
      </p:sp>
      <p:sp>
        <p:nvSpPr>
          <p:cNvPr id="179" name="Google Shape;179;p5"/>
          <p:cNvSpPr txBox="1"/>
          <p:nvPr/>
        </p:nvSpPr>
        <p:spPr>
          <a:xfrm>
            <a:off x="943432" y="7683549"/>
            <a:ext cx="16315868" cy="1933881"/>
          </a:xfrm>
          <a:prstGeom prst="rect">
            <a:avLst/>
          </a:prstGeom>
          <a:noFill/>
          <a:ln>
            <a:noFill/>
          </a:ln>
        </p:spPr>
        <p:txBody>
          <a:bodyPr anchorCtr="0" anchor="t" bIns="0" lIns="0" spcFirstLastPara="1" rIns="0" wrap="square" tIns="0">
            <a:spAutoFit/>
          </a:bodyPr>
          <a:lstStyle/>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December-2023 recorded the highest call volume with 7,947 calls, accounting for the majority of total call activity.</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January-2024 recorded the lowest call volume with only 418 calls, showing a significant decline compared to December-2023.</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volume decreased by approximately 94.7% from December-2023 to January-2024 (7,947 to 418 calls).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sharp drop in January-2024 suggests that the available data for January may represent only a partial month or a shorter reporting period.</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7" name="Shape 187"/>
        <p:cNvGrpSpPr/>
        <p:nvPr/>
      </p:nvGrpSpPr>
      <p:grpSpPr>
        <a:xfrm>
          <a:off x="0" y="0"/>
          <a:ext cx="0" cy="0"/>
          <a:chOff x="0" y="0"/>
          <a:chExt cx="0" cy="0"/>
        </a:xfrm>
      </p:grpSpPr>
      <p:sp>
        <p:nvSpPr>
          <p:cNvPr id="188" name="Google Shape;188;p6"/>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189" name="Google Shape;189;p6"/>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190" name="Google Shape;190;p6"/>
          <p:cNvSpPr/>
          <p:nvPr/>
        </p:nvSpPr>
        <p:spPr>
          <a:xfrm>
            <a:off x="992991" y="1387493"/>
            <a:ext cx="10118716" cy="5769926"/>
          </a:xfrm>
          <a:custGeom>
            <a:rect b="b" l="l" r="r" t="t"/>
            <a:pathLst>
              <a:path extrusionOk="0" h="10541068" w="18485865">
                <a:moveTo>
                  <a:pt x="0" y="0"/>
                </a:moveTo>
                <a:lnTo>
                  <a:pt x="18485865" y="0"/>
                </a:lnTo>
                <a:lnTo>
                  <a:pt x="18485865" y="10541068"/>
                </a:lnTo>
                <a:lnTo>
                  <a:pt x="0" y="10541068"/>
                </a:lnTo>
                <a:lnTo>
                  <a:pt x="0" y="0"/>
                </a:lnTo>
                <a:close/>
              </a:path>
            </a:pathLst>
          </a:custGeom>
          <a:blipFill rotWithShape="1">
            <a:blip r:embed="rId3">
              <a:alphaModFix/>
            </a:blip>
            <a:stretch>
              <a:fillRect b="0" l="-2585" r="-2585" t="-13808"/>
            </a:stretch>
          </a:blipFill>
          <a:ln>
            <a:noFill/>
          </a:ln>
        </p:spPr>
      </p:sp>
      <p:sp>
        <p:nvSpPr>
          <p:cNvPr id="191" name="Google Shape;191;p6"/>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Customer Satisfaction Trend</a:t>
            </a:r>
            <a:endParaRPr/>
          </a:p>
        </p:txBody>
      </p:sp>
      <p:sp>
        <p:nvSpPr>
          <p:cNvPr id="192" name="Google Shape;192;p6"/>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193" name="Google Shape;193;p6"/>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Customer satisfaction declined 9% from December (2.95) to January (2.68), indicating seasonal variations and service quality challenges that require continuous monitoring.</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The downward trend requires continuous monitoring and service quality improvements to prevent further customer attrition and maintain business performance.</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Regular satisfaction tracking and targeted service improvements are critical for maintaining customer loyalty and supporting long-term business growth.</a:t>
            </a:r>
            <a:endParaRPr/>
          </a:p>
        </p:txBody>
      </p:sp>
      <p:sp>
        <p:nvSpPr>
          <p:cNvPr id="194" name="Google Shape;194;p6"/>
          <p:cNvSpPr txBox="1"/>
          <p:nvPr/>
        </p:nvSpPr>
        <p:spPr>
          <a:xfrm>
            <a:off x="1028700" y="7176483"/>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195" name="Google Shape;195;p6"/>
          <p:cNvSpPr txBox="1"/>
          <p:nvPr/>
        </p:nvSpPr>
        <p:spPr>
          <a:xfrm>
            <a:off x="1028700" y="7902555"/>
            <a:ext cx="16315868" cy="2324515"/>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December-2023 recorded the highest average customer satisfaction score of 2.95, while January-2024 recorded the lowest at 2.68.</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average customer satisfaction score declined by 0.27 points from December-2023 to January-2024.</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overall average customer satisfaction score across the analyzed period was 2.93, indicating a generally consistent customer rating trend.</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Although customer satisfaction decreased in January-2024, the difference between the two months was relatively small (0.27 points), suggesting only a moderate change in average ratings.</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3" name="Shape 203"/>
        <p:cNvGrpSpPr/>
        <p:nvPr/>
      </p:nvGrpSpPr>
      <p:grpSpPr>
        <a:xfrm>
          <a:off x="0" y="0"/>
          <a:ext cx="0" cy="0"/>
          <a:chOff x="0" y="0"/>
          <a:chExt cx="0" cy="0"/>
        </a:xfrm>
      </p:grpSpPr>
      <p:sp>
        <p:nvSpPr>
          <p:cNvPr id="204" name="Google Shape;204;p7"/>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05" name="Google Shape;205;p7"/>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06" name="Google Shape;206;p7"/>
          <p:cNvSpPr/>
          <p:nvPr/>
        </p:nvSpPr>
        <p:spPr>
          <a:xfrm>
            <a:off x="943432" y="1729169"/>
            <a:ext cx="10539165" cy="5076362"/>
          </a:xfrm>
          <a:custGeom>
            <a:rect b="b" l="l" r="r" t="t"/>
            <a:pathLst>
              <a:path extrusionOk="0" h="8882000" w="18440146">
                <a:moveTo>
                  <a:pt x="0" y="0"/>
                </a:moveTo>
                <a:lnTo>
                  <a:pt x="18440146" y="0"/>
                </a:lnTo>
                <a:lnTo>
                  <a:pt x="18440146" y="8882000"/>
                </a:lnTo>
                <a:lnTo>
                  <a:pt x="0" y="8882000"/>
                </a:lnTo>
                <a:lnTo>
                  <a:pt x="0" y="0"/>
                </a:lnTo>
                <a:close/>
              </a:path>
            </a:pathLst>
          </a:custGeom>
          <a:blipFill rotWithShape="1">
            <a:blip r:embed="rId3">
              <a:alphaModFix/>
            </a:blip>
            <a:stretch>
              <a:fillRect b="-5988" l="0" r="0" t="-22241"/>
            </a:stretch>
          </a:blipFill>
          <a:ln>
            <a:noFill/>
          </a:ln>
        </p:spPr>
      </p:sp>
      <p:sp>
        <p:nvSpPr>
          <p:cNvPr id="207" name="Google Shape;207;p7"/>
          <p:cNvSpPr txBox="1"/>
          <p:nvPr/>
        </p:nvSpPr>
        <p:spPr>
          <a:xfrm>
            <a:off x="992991" y="675542"/>
            <a:ext cx="16315868" cy="1028679"/>
          </a:xfrm>
          <a:prstGeom prst="rect">
            <a:avLst/>
          </a:prstGeom>
          <a:noFill/>
          <a:ln>
            <a:noFill/>
          </a:ln>
        </p:spPr>
        <p:txBody>
          <a:bodyPr anchorCtr="0" anchor="t" bIns="0" lIns="0" spcFirstLastPara="1" rIns="0" wrap="square" tIns="0">
            <a:spAutoFit/>
          </a:bodyPr>
          <a:lstStyle/>
          <a:p>
            <a:pPr indent="0" lvl="0" marL="0" marR="0" rtl="0" algn="l">
              <a:lnSpc>
                <a:spcPct val="149693"/>
              </a:lnSpc>
              <a:spcBef>
                <a:spcPts val="0"/>
              </a:spcBef>
              <a:spcAft>
                <a:spcPts val="0"/>
              </a:spcAft>
              <a:buNone/>
            </a:pPr>
            <a:r>
              <a:rPr b="1" i="0" lang="en-US" sz="2777" u="none" cap="none" strike="noStrike">
                <a:solidFill>
                  <a:srgbClr val="000000"/>
                </a:solidFill>
                <a:latin typeface="Inter"/>
                <a:ea typeface="Inter"/>
                <a:cs typeface="Inter"/>
                <a:sym typeface="Inter"/>
              </a:rPr>
              <a:t>Sales by Consultation Type</a:t>
            </a:r>
            <a:endParaRPr/>
          </a:p>
          <a:p>
            <a:pPr indent="0" lvl="0" marL="0" marR="0" rtl="0" algn="l">
              <a:lnSpc>
                <a:spcPct val="149693"/>
              </a:lnSpc>
              <a:spcBef>
                <a:spcPts val="0"/>
              </a:spcBef>
              <a:spcAft>
                <a:spcPts val="0"/>
              </a:spcAft>
              <a:buNone/>
            </a:pPr>
            <a:r>
              <a:t/>
            </a:r>
            <a:endParaRPr b="1" i="0" sz="2777" u="none" cap="none" strike="noStrike">
              <a:solidFill>
                <a:srgbClr val="000000"/>
              </a:solidFill>
              <a:latin typeface="Inter"/>
              <a:ea typeface="Inter"/>
              <a:cs typeface="Inter"/>
              <a:sym typeface="Inter"/>
            </a:endParaRPr>
          </a:p>
        </p:txBody>
      </p:sp>
      <p:sp>
        <p:nvSpPr>
          <p:cNvPr id="208" name="Google Shape;208;p7"/>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209" name="Google Shape;209;p7"/>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Call consultations generate 78.72% of total revenue (₹168.5K), establishing them as the primary revenue driver for AstroSage's business model.</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Chat consultations contribute 21.25% of revenue, presenting significant opportunities for service expansion and targeted business strategies to increase market share.</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Revenue distribution across consultation types should guide strategic investment priorities and resource allocation decisions.</a:t>
            </a:r>
            <a:endParaRPr/>
          </a:p>
        </p:txBody>
      </p:sp>
      <p:sp>
        <p:nvSpPr>
          <p:cNvPr id="210" name="Google Shape;210;p7"/>
          <p:cNvSpPr txBox="1"/>
          <p:nvPr/>
        </p:nvSpPr>
        <p:spPr>
          <a:xfrm>
            <a:off x="992991" y="743419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211" name="Google Shape;211;p7"/>
          <p:cNvSpPr txBox="1"/>
          <p:nvPr/>
        </p:nvSpPr>
        <p:spPr>
          <a:xfrm>
            <a:off x="943432" y="7940544"/>
            <a:ext cx="16315868" cy="2324515"/>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consultations generated the highest share of revenue, contributing 78.72% of total sales, making them the primary revenue source.</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Chat consultations accounted for 21.25% of total sales, making them the second-largest contributor to revenue.</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Public Live Call contributed only 0.02% of total sales, indicating minimal revenue generation during the analyzed period.</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Complementary consultations generated no measurable revenue (0%), as they were offered free of charge or had no billable transactions.</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9" name="Shape 219"/>
        <p:cNvGrpSpPr/>
        <p:nvPr/>
      </p:nvGrpSpPr>
      <p:grpSpPr>
        <a:xfrm>
          <a:off x="0" y="0"/>
          <a:ext cx="0" cy="0"/>
          <a:chOff x="0" y="0"/>
          <a:chExt cx="0" cy="0"/>
        </a:xfrm>
      </p:grpSpPr>
      <p:sp>
        <p:nvSpPr>
          <p:cNvPr id="220" name="Google Shape;220;p8"/>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21" name="Google Shape;221;p8"/>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22" name="Google Shape;222;p8"/>
          <p:cNvSpPr/>
          <p:nvPr/>
        </p:nvSpPr>
        <p:spPr>
          <a:xfrm>
            <a:off x="992991" y="1365371"/>
            <a:ext cx="10521974" cy="5892425"/>
          </a:xfrm>
          <a:custGeom>
            <a:rect b="b" l="l" r="r" t="t"/>
            <a:pathLst>
              <a:path extrusionOk="0" h="10523982" w="18792444">
                <a:moveTo>
                  <a:pt x="0" y="0"/>
                </a:moveTo>
                <a:lnTo>
                  <a:pt x="18792444" y="0"/>
                </a:lnTo>
                <a:lnTo>
                  <a:pt x="18792444" y="10523982"/>
                </a:lnTo>
                <a:lnTo>
                  <a:pt x="0" y="10523982"/>
                </a:lnTo>
                <a:lnTo>
                  <a:pt x="0" y="0"/>
                </a:lnTo>
                <a:close/>
              </a:path>
            </a:pathLst>
          </a:custGeom>
          <a:blipFill rotWithShape="1">
            <a:blip r:embed="rId3">
              <a:alphaModFix/>
            </a:blip>
            <a:stretch>
              <a:fillRect b="0" l="-624" r="-624" t="-11981"/>
            </a:stretch>
          </a:blipFill>
          <a:ln>
            <a:noFill/>
          </a:ln>
        </p:spPr>
      </p:sp>
      <p:sp>
        <p:nvSpPr>
          <p:cNvPr id="223" name="Google Shape;223;p8"/>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Peak Hour Call Analysis</a:t>
            </a:r>
            <a:endParaRPr/>
          </a:p>
        </p:txBody>
      </p:sp>
      <p:sp>
        <p:nvSpPr>
          <p:cNvPr id="224" name="Google Shape;224;p8"/>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225" name="Google Shape;225;p8"/>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Peak workloads occur during business hours (6 AM - 4 PM), with maximum volume of 699 interactions at 8 AM</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Lowest volumes occur during late night hours (22-23), indicating minimal demand outside business hours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Workforce planning is essential during peak periods to maintain service quality and operational efficiency</a:t>
            </a:r>
            <a:endParaRPr/>
          </a:p>
        </p:txBody>
      </p:sp>
      <p:sp>
        <p:nvSpPr>
          <p:cNvPr id="226" name="Google Shape;226;p8"/>
          <p:cNvSpPr txBox="1"/>
          <p:nvPr/>
        </p:nvSpPr>
        <p:spPr>
          <a:xfrm>
            <a:off x="992991" y="743419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227" name="Google Shape;227;p8"/>
          <p:cNvSpPr txBox="1"/>
          <p:nvPr/>
        </p:nvSpPr>
        <p:spPr>
          <a:xfrm>
            <a:off x="943432" y="7940544"/>
            <a:ext cx="16315868" cy="1933990"/>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highest call volume was recorded at 8 AM with 699 calls, making it the peak hour for customer interactions.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volume increased steadily from early morning (0–8 AM), indicating growing customer activity during the morning hours.</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High call traffic continued from 2 PM to 4 PM (651–591 calls), showing sustained demand throughout the afternoon.</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volume declined significantly after 6 PM, with the fewest calls recorded during late-night hours (10 PM–11 PM).</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5" name="Shape 235"/>
        <p:cNvGrpSpPr/>
        <p:nvPr/>
      </p:nvGrpSpPr>
      <p:grpSpPr>
        <a:xfrm>
          <a:off x="0" y="0"/>
          <a:ext cx="0" cy="0"/>
          <a:chOff x="0" y="0"/>
          <a:chExt cx="0" cy="0"/>
        </a:xfrm>
      </p:grpSpPr>
      <p:sp>
        <p:nvSpPr>
          <p:cNvPr id="236" name="Google Shape;236;p9"/>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37" name="Google Shape;237;p9"/>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38" name="Google Shape;238;p9"/>
          <p:cNvSpPr/>
          <p:nvPr/>
        </p:nvSpPr>
        <p:spPr>
          <a:xfrm>
            <a:off x="992991" y="1365371"/>
            <a:ext cx="10610218" cy="5941842"/>
          </a:xfrm>
          <a:custGeom>
            <a:rect b="b" l="l" r="r" t="t"/>
            <a:pathLst>
              <a:path extrusionOk="0" h="10523982" w="18792444">
                <a:moveTo>
                  <a:pt x="0" y="0"/>
                </a:moveTo>
                <a:lnTo>
                  <a:pt x="18792444" y="0"/>
                </a:lnTo>
                <a:lnTo>
                  <a:pt x="18792444" y="10523982"/>
                </a:lnTo>
                <a:lnTo>
                  <a:pt x="0" y="10523982"/>
                </a:lnTo>
                <a:lnTo>
                  <a:pt x="0" y="0"/>
                </a:lnTo>
                <a:close/>
              </a:path>
            </a:pathLst>
          </a:custGeom>
          <a:blipFill rotWithShape="1">
            <a:blip r:embed="rId3">
              <a:alphaModFix/>
            </a:blip>
            <a:stretch>
              <a:fillRect b="0" l="-1066" r="-1066" t="-12769"/>
            </a:stretch>
          </a:blipFill>
          <a:ln>
            <a:noFill/>
          </a:ln>
        </p:spPr>
      </p:sp>
      <p:sp>
        <p:nvSpPr>
          <p:cNvPr id="239" name="Google Shape;239;p9"/>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Customer Satisfaction During Peak Hours</a:t>
            </a:r>
            <a:endParaRPr/>
          </a:p>
        </p:txBody>
      </p:sp>
      <p:sp>
        <p:nvSpPr>
          <p:cNvPr id="240" name="Google Shape;240;p9"/>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241" name="Google Shape;241;p9"/>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Peak customer interactions occur between 6 AM and 4 PM, where hourly call volumes consistently exceed 500 calls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Customer ratings remain relatively high during peak hours, ranging approximately from 4.77 to 5.34, indicating that service quality is maintained despite higher workloads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Call volumes decline significantly after 8 PM, accompanied by lower customer ratings, suggesting that staffing and service quality should also be monitored during off-peak hours</a:t>
            </a:r>
            <a:endParaRPr/>
          </a:p>
        </p:txBody>
      </p:sp>
      <p:sp>
        <p:nvSpPr>
          <p:cNvPr id="242" name="Google Shape;242;p9"/>
          <p:cNvSpPr txBox="1"/>
          <p:nvPr/>
        </p:nvSpPr>
        <p:spPr>
          <a:xfrm>
            <a:off x="992991" y="743419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243" name="Google Shape;243;p9"/>
          <p:cNvSpPr txBox="1"/>
          <p:nvPr/>
        </p:nvSpPr>
        <p:spPr>
          <a:xfrm>
            <a:off x="943432" y="7940544"/>
            <a:ext cx="16315868" cy="1933990"/>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highest call volume was recorded at 8 AM with 699 calls, making it the peak hour for customer interactions.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volume increased steadily from early morning (0–8 AM), indicating growing customer activity during the morning hours.</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High call traffic continued from 2 PM to 4 PM (651–591 calls), showing sustained demand throughout the afternoon.</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Call volume declined significantly after 6 PM, with the fewest calls recorded during late-night hours (10 PM–11 PM).</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1" name="Shape 251"/>
        <p:cNvGrpSpPr/>
        <p:nvPr/>
      </p:nvGrpSpPr>
      <p:grpSpPr>
        <a:xfrm>
          <a:off x="0" y="0"/>
          <a:ext cx="0" cy="0"/>
          <a:chOff x="0" y="0"/>
          <a:chExt cx="0" cy="0"/>
        </a:xfrm>
      </p:grpSpPr>
      <p:sp>
        <p:nvSpPr>
          <p:cNvPr id="252" name="Google Shape;252;p10"/>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53" name="Google Shape;253;p10"/>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54" name="Google Shape;254;p10"/>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Interaction Status Analysis</a:t>
            </a:r>
            <a:endParaRPr/>
          </a:p>
        </p:txBody>
      </p:sp>
      <p:sp>
        <p:nvSpPr>
          <p:cNvPr descr="preencoded.png" id="255" name="Google Shape;255;p10"/>
          <p:cNvSpPr/>
          <p:nvPr/>
        </p:nvSpPr>
        <p:spPr>
          <a:xfrm>
            <a:off x="992991" y="1409614"/>
            <a:ext cx="7473696" cy="5379625"/>
          </a:xfrm>
          <a:custGeom>
            <a:rect b="b" l="l" r="r" t="t"/>
            <a:pathLst>
              <a:path extrusionOk="0" h="7172833" w="9964928">
                <a:moveTo>
                  <a:pt x="0" y="0"/>
                </a:moveTo>
                <a:lnTo>
                  <a:pt x="9964928" y="0"/>
                </a:lnTo>
                <a:lnTo>
                  <a:pt x="9964928" y="7172833"/>
                </a:lnTo>
                <a:lnTo>
                  <a:pt x="0" y="7172833"/>
                </a:lnTo>
                <a:lnTo>
                  <a:pt x="0" y="0"/>
                </a:lnTo>
                <a:close/>
              </a:path>
            </a:pathLst>
          </a:custGeom>
          <a:blipFill rotWithShape="1">
            <a:blip r:embed="rId3">
              <a:alphaModFix/>
            </a:blip>
            <a:stretch>
              <a:fillRect b="0" l="-8" r="-8" t="0"/>
            </a:stretch>
          </a:blipFill>
          <a:ln>
            <a:noFill/>
          </a:ln>
        </p:spPr>
      </p:sp>
      <p:sp>
        <p:nvSpPr>
          <p:cNvPr id="256" name="Google Shape;256;p10"/>
          <p:cNvSpPr txBox="1"/>
          <p:nvPr/>
        </p:nvSpPr>
        <p:spPr>
          <a:xfrm>
            <a:off x="1028700" y="6902291"/>
            <a:ext cx="2184559" cy="285817"/>
          </a:xfrm>
          <a:prstGeom prst="rect">
            <a:avLst/>
          </a:prstGeom>
          <a:noFill/>
          <a:ln>
            <a:noFill/>
          </a:ln>
        </p:spPr>
        <p:txBody>
          <a:bodyPr anchorCtr="0" anchor="t" bIns="0" lIns="0" spcFirstLastPara="1" rIns="0" wrap="square" tIns="0">
            <a:spAutoFit/>
          </a:bodyPr>
          <a:lstStyle/>
          <a:p>
            <a:pPr indent="0" lvl="0" marL="0" marR="0" rtl="0" algn="l">
              <a:lnSpc>
                <a:spcPct val="149645"/>
              </a:lnSpc>
              <a:spcBef>
                <a:spcPts val="0"/>
              </a:spcBef>
              <a:spcAft>
                <a:spcPts val="0"/>
              </a:spcAft>
              <a:buNone/>
            </a:pPr>
            <a:r>
              <a:rPr b="1" i="0" lang="en-US" sz="1551" u="none" cap="none" strike="noStrike">
                <a:solidFill>
                  <a:srgbClr val="000000"/>
                </a:solidFill>
                <a:latin typeface="Inter"/>
                <a:ea typeface="Inter"/>
                <a:cs typeface="Inter"/>
                <a:sym typeface="Inter"/>
              </a:rPr>
              <a:t>Call Status Distribution</a:t>
            </a:r>
            <a:endParaRPr/>
          </a:p>
        </p:txBody>
      </p:sp>
      <p:sp>
        <p:nvSpPr>
          <p:cNvPr descr="preencoded.png" id="257" name="Google Shape;257;p10"/>
          <p:cNvSpPr/>
          <p:nvPr/>
        </p:nvSpPr>
        <p:spPr>
          <a:xfrm>
            <a:off x="9333519" y="1409614"/>
            <a:ext cx="7473696" cy="5379625"/>
          </a:xfrm>
          <a:custGeom>
            <a:rect b="b" l="l" r="r" t="t"/>
            <a:pathLst>
              <a:path extrusionOk="0" h="7172833" w="9964928">
                <a:moveTo>
                  <a:pt x="0" y="0"/>
                </a:moveTo>
                <a:lnTo>
                  <a:pt x="9964928" y="0"/>
                </a:lnTo>
                <a:lnTo>
                  <a:pt x="9964928" y="7172833"/>
                </a:lnTo>
                <a:lnTo>
                  <a:pt x="0" y="7172833"/>
                </a:lnTo>
                <a:lnTo>
                  <a:pt x="0" y="0"/>
                </a:lnTo>
                <a:close/>
              </a:path>
            </a:pathLst>
          </a:custGeom>
          <a:blipFill rotWithShape="1">
            <a:blip r:embed="rId4">
              <a:alphaModFix/>
            </a:blip>
            <a:stretch>
              <a:fillRect b="0" l="-8" r="-8" t="0"/>
            </a:stretch>
          </a:blipFill>
          <a:ln>
            <a:noFill/>
          </a:ln>
        </p:spPr>
      </p:sp>
      <p:sp>
        <p:nvSpPr>
          <p:cNvPr id="258" name="Google Shape;258;p10"/>
          <p:cNvSpPr txBox="1"/>
          <p:nvPr/>
        </p:nvSpPr>
        <p:spPr>
          <a:xfrm>
            <a:off x="9333519" y="6928380"/>
            <a:ext cx="7984865" cy="259728"/>
          </a:xfrm>
          <a:prstGeom prst="rect">
            <a:avLst/>
          </a:prstGeom>
          <a:noFill/>
          <a:ln>
            <a:noFill/>
          </a:ln>
        </p:spPr>
        <p:txBody>
          <a:bodyPr anchorCtr="0" anchor="t" bIns="0" lIns="0" spcFirstLastPara="1" rIns="0" wrap="square" tIns="0">
            <a:spAutoFit/>
          </a:bodyPr>
          <a:lstStyle/>
          <a:p>
            <a:pPr indent="0" lvl="0" marL="0" marR="0" rtl="0" algn="l">
              <a:lnSpc>
                <a:spcPct val="149851"/>
              </a:lnSpc>
              <a:spcBef>
                <a:spcPts val="0"/>
              </a:spcBef>
              <a:spcAft>
                <a:spcPts val="0"/>
              </a:spcAft>
              <a:buNone/>
            </a:pPr>
            <a:r>
              <a:rPr b="1" i="0" lang="en-US" sz="1350" u="none" cap="none" strike="noStrike">
                <a:solidFill>
                  <a:srgbClr val="000000"/>
                </a:solidFill>
                <a:latin typeface="Inter"/>
                <a:ea typeface="Inter"/>
                <a:cs typeface="Inter"/>
                <a:sym typeface="Inter"/>
              </a:rPr>
              <a:t>Chat Status Distribution</a:t>
            </a:r>
            <a:endParaRPr/>
          </a:p>
        </p:txBody>
      </p:sp>
      <p:sp>
        <p:nvSpPr>
          <p:cNvPr id="259" name="Google Shape;259;p10"/>
          <p:cNvSpPr txBox="1"/>
          <p:nvPr/>
        </p:nvSpPr>
        <p:spPr>
          <a:xfrm>
            <a:off x="943432" y="7283358"/>
            <a:ext cx="1407204" cy="350663"/>
          </a:xfrm>
          <a:prstGeom prst="rect">
            <a:avLst/>
          </a:prstGeom>
          <a:noFill/>
          <a:ln>
            <a:noFill/>
          </a:ln>
        </p:spPr>
        <p:txBody>
          <a:bodyPr anchorCtr="0" anchor="t" bIns="0" lIns="0" spcFirstLastPara="1" rIns="0" wrap="square" tIns="0">
            <a:spAutoFit/>
          </a:bodyPr>
          <a:lstStyle/>
          <a:p>
            <a:pPr indent="0" lvl="0" marL="0" marR="0" rtl="0" algn="l">
              <a:lnSpc>
                <a:spcPct val="149783"/>
              </a:lnSpc>
              <a:spcBef>
                <a:spcPts val="0"/>
              </a:spcBef>
              <a:spcAft>
                <a:spcPts val="0"/>
              </a:spcAft>
              <a:buNone/>
            </a:pPr>
            <a:r>
              <a:rPr b="1" i="0" lang="en-US" sz="1850" u="none" cap="none" strike="noStrike">
                <a:solidFill>
                  <a:srgbClr val="000000"/>
                </a:solidFill>
                <a:latin typeface="Inter"/>
                <a:ea typeface="Inter"/>
                <a:cs typeface="Inter"/>
                <a:sym typeface="Inter"/>
              </a:rPr>
              <a:t>Key Insights</a:t>
            </a:r>
            <a:endParaRPr/>
          </a:p>
        </p:txBody>
      </p:sp>
      <p:sp>
        <p:nvSpPr>
          <p:cNvPr id="260" name="Google Shape;260;p10"/>
          <p:cNvSpPr txBox="1"/>
          <p:nvPr/>
        </p:nvSpPr>
        <p:spPr>
          <a:xfrm>
            <a:off x="1002516" y="7776896"/>
            <a:ext cx="16315868" cy="828675"/>
          </a:xfrm>
          <a:prstGeom prst="rect">
            <a:avLst/>
          </a:prstGeom>
          <a:noFill/>
          <a:ln>
            <a:noFill/>
          </a:ln>
        </p:spPr>
        <p:txBody>
          <a:bodyPr anchorCtr="0" anchor="t" bIns="0" lIns="0" spcFirstLastPara="1" rIns="0" wrap="square" tIns="0">
            <a:spAutoFit/>
          </a:bodyPr>
          <a:lstStyle/>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Only 3,453 out of 8,541 call interactions (40.43%) were successfully completed, while 5,088 interactions were unsuccessful due to busy, failed, incomplete, or no-answer statuses, indicating opportunities to improve call handling efficiency.</a:t>
            </a:r>
            <a:endParaRPr/>
          </a:p>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Chat interactions recorded 7,256 failed and 6,641 incomplete cases, which together account for more than 70% of all chat interactions, suggesting significant process and service quality challenges.</a:t>
            </a:r>
            <a:endParaRPr/>
          </a:p>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The gap between completed and unsuccessful interactions across both channels highlights the need for better workforce planning, agent training, and operational monitoring.</a:t>
            </a:r>
            <a:endParaRPr/>
          </a:p>
        </p:txBody>
      </p:sp>
      <p:sp>
        <p:nvSpPr>
          <p:cNvPr id="261" name="Google Shape;261;p10"/>
          <p:cNvSpPr txBox="1"/>
          <p:nvPr/>
        </p:nvSpPr>
        <p:spPr>
          <a:xfrm>
            <a:off x="943432" y="8700821"/>
            <a:ext cx="2126332" cy="350663"/>
          </a:xfrm>
          <a:prstGeom prst="rect">
            <a:avLst/>
          </a:prstGeom>
          <a:noFill/>
          <a:ln>
            <a:noFill/>
          </a:ln>
        </p:spPr>
        <p:txBody>
          <a:bodyPr anchorCtr="0" anchor="t" bIns="0" lIns="0" spcFirstLastPara="1" rIns="0" wrap="square" tIns="0">
            <a:spAutoFit/>
          </a:bodyPr>
          <a:lstStyle/>
          <a:p>
            <a:pPr indent="0" lvl="0" marL="0" marR="0" rtl="0" algn="l">
              <a:lnSpc>
                <a:spcPct val="149783"/>
              </a:lnSpc>
              <a:spcBef>
                <a:spcPts val="0"/>
              </a:spcBef>
              <a:spcAft>
                <a:spcPts val="0"/>
              </a:spcAft>
              <a:buNone/>
            </a:pPr>
            <a:r>
              <a:rPr b="1" i="0" lang="en-US" sz="1850" u="none" cap="none" strike="noStrike">
                <a:solidFill>
                  <a:srgbClr val="000000"/>
                </a:solidFill>
                <a:latin typeface="Inter"/>
                <a:ea typeface="Inter"/>
                <a:cs typeface="Inter"/>
                <a:sym typeface="Inter"/>
              </a:rPr>
              <a:t>Recommendations</a:t>
            </a:r>
            <a:endParaRPr/>
          </a:p>
        </p:txBody>
      </p:sp>
      <p:sp>
        <p:nvSpPr>
          <p:cNvPr id="262" name="Google Shape;262;p10"/>
          <p:cNvSpPr txBox="1"/>
          <p:nvPr/>
        </p:nvSpPr>
        <p:spPr>
          <a:xfrm>
            <a:off x="943432" y="9194359"/>
            <a:ext cx="16315868" cy="628650"/>
          </a:xfrm>
          <a:prstGeom prst="rect">
            <a:avLst/>
          </a:prstGeom>
          <a:noFill/>
          <a:ln>
            <a:noFill/>
          </a:ln>
        </p:spPr>
        <p:txBody>
          <a:bodyPr anchorCtr="0" anchor="t" bIns="0" lIns="0" spcFirstLastPara="1" rIns="0" wrap="square" tIns="0">
            <a:spAutoFit/>
          </a:bodyPr>
          <a:lstStyle/>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Prioritize reducing failed and incomplete interactions by improving agent training and implementing standardized call and chat handling procedures.</a:t>
            </a:r>
            <a:endParaRPr/>
          </a:p>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Monitor busy and no-answer call statuses during peak periods to optimize staffing and resource allocation.</a:t>
            </a:r>
            <a:endParaRPr/>
          </a:p>
          <a:p>
            <a:pPr indent="-95068" lvl="2" marL="285204" marR="0" rtl="0" algn="l">
              <a:lnSpc>
                <a:spcPct val="143925"/>
              </a:lnSpc>
              <a:spcBef>
                <a:spcPts val="0"/>
              </a:spcBef>
              <a:spcAft>
                <a:spcPts val="0"/>
              </a:spcAft>
              <a:buClr>
                <a:srgbClr val="272525"/>
              </a:buClr>
              <a:buSzPts val="1350"/>
              <a:buFont typeface="Arial"/>
              <a:buChar char="⚬"/>
            </a:pPr>
            <a:r>
              <a:rPr b="0" i="0" lang="en-US" sz="1350" u="none" cap="none" strike="noStrike">
                <a:solidFill>
                  <a:srgbClr val="272525"/>
                </a:solidFill>
                <a:latin typeface="Inter"/>
                <a:ea typeface="Inter"/>
                <a:cs typeface="Inter"/>
                <a:sym typeface="Inter"/>
              </a:rPr>
              <a:t>Implement real-time operational dashboards to track completion rates and identify service bottlenecks across both call and chat channels.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0" name="Shape 270"/>
        <p:cNvGrpSpPr/>
        <p:nvPr/>
      </p:nvGrpSpPr>
      <p:grpSpPr>
        <a:xfrm>
          <a:off x="0" y="0"/>
          <a:ext cx="0" cy="0"/>
          <a:chOff x="0" y="0"/>
          <a:chExt cx="0" cy="0"/>
        </a:xfrm>
      </p:grpSpPr>
      <p:sp>
        <p:nvSpPr>
          <p:cNvPr id="271" name="Google Shape;271;p1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72" name="Google Shape;272;p1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73" name="Google Shape;273;p11"/>
          <p:cNvSpPr/>
          <p:nvPr/>
        </p:nvSpPr>
        <p:spPr>
          <a:xfrm>
            <a:off x="992991" y="1365371"/>
            <a:ext cx="10122630" cy="5668787"/>
          </a:xfrm>
          <a:custGeom>
            <a:rect b="b" l="l" r="r" t="t"/>
            <a:pathLst>
              <a:path extrusionOk="0" h="10523982" w="18792444">
                <a:moveTo>
                  <a:pt x="0" y="0"/>
                </a:moveTo>
                <a:lnTo>
                  <a:pt x="18792444" y="0"/>
                </a:lnTo>
                <a:lnTo>
                  <a:pt x="18792444" y="10523982"/>
                </a:lnTo>
                <a:lnTo>
                  <a:pt x="0" y="10523982"/>
                </a:lnTo>
                <a:lnTo>
                  <a:pt x="0" y="0"/>
                </a:lnTo>
                <a:close/>
              </a:path>
            </a:pathLst>
          </a:custGeom>
          <a:blipFill rotWithShape="1">
            <a:blip r:embed="rId3">
              <a:alphaModFix/>
            </a:blip>
            <a:stretch>
              <a:fillRect b="-2783" l="0" r="0" t="-2783"/>
            </a:stretch>
          </a:blipFill>
          <a:ln>
            <a:noFill/>
          </a:ln>
        </p:spPr>
      </p:sp>
      <p:sp>
        <p:nvSpPr>
          <p:cNvPr id="274" name="Google Shape;274;p11"/>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Guru Performance Analysis</a:t>
            </a:r>
            <a:endParaRPr/>
          </a:p>
        </p:txBody>
      </p:sp>
      <p:sp>
        <p:nvSpPr>
          <p:cNvPr id="275" name="Google Shape;275;p11"/>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276" name="Google Shape;276;p11"/>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The highest-rated gurus received customer ratings between </a:t>
            </a:r>
            <a:r>
              <a:rPr b="1" i="0" lang="en-US" sz="1050" u="none" cap="none" strike="noStrike">
                <a:solidFill>
                  <a:srgbClr val="272525"/>
                </a:solidFill>
                <a:latin typeface="Inter"/>
                <a:ea typeface="Inter"/>
                <a:cs typeface="Inter"/>
                <a:sym typeface="Inter"/>
              </a:rPr>
              <a:t>4.0 and 4.9</a:t>
            </a:r>
            <a:r>
              <a:rPr b="0" i="0" lang="en-US" sz="1050" u="none" cap="none" strike="noStrike">
                <a:solidFill>
                  <a:srgbClr val="272525"/>
                </a:solidFill>
                <a:latin typeface="Inter"/>
                <a:ea typeface="Inter"/>
                <a:cs typeface="Inter"/>
                <a:sym typeface="Inter"/>
              </a:rPr>
              <a:t>, demonstrating consistently positive customer experiences and strong service quality.</a:t>
            </a:r>
            <a:endParaRPr/>
          </a:p>
          <a:p>
            <a:pPr indent="-66675" lvl="2" marL="221842" marR="0" rtl="0" algn="l">
              <a:lnSpc>
                <a:spcPct val="144000"/>
              </a:lnSpc>
              <a:spcBef>
                <a:spcPts val="0"/>
              </a:spcBef>
              <a:spcAft>
                <a:spcPts val="0"/>
              </a:spcAft>
              <a:buClr>
                <a:srgbClr val="272525"/>
              </a:buClr>
              <a:buSzPts val="1050"/>
              <a:buFont typeface="Arial"/>
              <a:buChar char="⚬"/>
            </a:pPr>
            <a:r>
              <a:rPr b="1" i="0" lang="en-US" sz="1050" u="none" cap="none" strike="noStrike">
                <a:solidFill>
                  <a:srgbClr val="272525"/>
                </a:solidFill>
                <a:latin typeface="Inter"/>
                <a:ea typeface="Inter"/>
                <a:cs typeface="Inter"/>
                <a:sym typeface="Inter"/>
              </a:rPr>
              <a:t>Tarot Mystical</a:t>
            </a:r>
            <a:r>
              <a:rPr b="0" i="0" lang="en-US" sz="1050" u="none" cap="none" strike="noStrike">
                <a:solidFill>
                  <a:srgbClr val="272525"/>
                </a:solidFill>
                <a:latin typeface="Inter"/>
                <a:ea typeface="Inter"/>
                <a:cs typeface="Inter"/>
                <a:sym typeface="Inter"/>
              </a:rPr>
              <a:t> achieved the highest customer rating (</a:t>
            </a:r>
            <a:r>
              <a:rPr b="1" i="0" lang="en-US" sz="1050" u="none" cap="none" strike="noStrike">
                <a:solidFill>
                  <a:srgbClr val="272525"/>
                </a:solidFill>
                <a:latin typeface="Inter"/>
                <a:ea typeface="Inter"/>
                <a:cs typeface="Inter"/>
                <a:sym typeface="Inter"/>
              </a:rPr>
              <a:t>4.9</a:t>
            </a:r>
            <a:r>
              <a:rPr b="0" i="0" lang="en-US" sz="1050" u="none" cap="none" strike="noStrike">
                <a:solidFill>
                  <a:srgbClr val="272525"/>
                </a:solidFill>
                <a:latin typeface="Inter"/>
                <a:ea typeface="Inter"/>
                <a:cs typeface="Inter"/>
                <a:sym typeface="Inter"/>
              </a:rPr>
              <a:t>), followed by </a:t>
            </a:r>
            <a:r>
              <a:rPr b="1" i="0" lang="en-US" sz="1050" u="none" cap="none" strike="noStrike">
                <a:solidFill>
                  <a:srgbClr val="272525"/>
                </a:solidFill>
                <a:latin typeface="Inter"/>
                <a:ea typeface="Inter"/>
                <a:cs typeface="Inter"/>
                <a:sym typeface="Inter"/>
              </a:rPr>
              <a:t>Astro Pooja Rai (4.7)</a:t>
            </a:r>
            <a:r>
              <a:rPr b="0" i="0" lang="en-US" sz="1050" u="none" cap="none" strike="noStrike">
                <a:solidFill>
                  <a:srgbClr val="272525"/>
                </a:solidFill>
                <a:latin typeface="Inter"/>
                <a:ea typeface="Inter"/>
                <a:cs typeface="Inter"/>
                <a:sym typeface="Inter"/>
              </a:rPr>
              <a:t> and </a:t>
            </a:r>
            <a:r>
              <a:rPr b="1" i="0" lang="en-US" sz="1050" u="none" cap="none" strike="noStrike">
                <a:solidFill>
                  <a:srgbClr val="272525"/>
                </a:solidFill>
                <a:latin typeface="Inter"/>
                <a:ea typeface="Inter"/>
                <a:cs typeface="Inter"/>
                <a:sym typeface="Inter"/>
              </a:rPr>
              <a:t>Daljit Kaur (4.5)</a:t>
            </a:r>
            <a:r>
              <a:rPr b="0" i="0" lang="en-US" sz="1050" u="none" cap="none" strike="noStrike">
                <a:solidFill>
                  <a:srgbClr val="272525"/>
                </a:solidFill>
                <a:latin typeface="Inter"/>
                <a:ea typeface="Inter"/>
                <a:cs typeface="Inter"/>
                <a:sym typeface="Inter"/>
              </a:rPr>
              <a:t>, highlighting top-performing gurus within the organization.</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Variations in customer ratings highlight differences in service quality and provide opportunities to identify best practices that can be replicated across the organization to improve overall customer satisfaction.</a:t>
            </a:r>
            <a:endParaRPr/>
          </a:p>
        </p:txBody>
      </p:sp>
      <p:sp>
        <p:nvSpPr>
          <p:cNvPr id="277" name="Google Shape;277;p11"/>
          <p:cNvSpPr txBox="1"/>
          <p:nvPr/>
        </p:nvSpPr>
        <p:spPr>
          <a:xfrm>
            <a:off x="992991" y="11571408"/>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Recommendations</a:t>
            </a:r>
            <a:endParaRPr/>
          </a:p>
        </p:txBody>
      </p:sp>
      <p:sp>
        <p:nvSpPr>
          <p:cNvPr id="278" name="Google Shape;278;p11"/>
          <p:cNvSpPr txBox="1"/>
          <p:nvPr/>
        </p:nvSpPr>
        <p:spPr>
          <a:xfrm>
            <a:off x="992991" y="11991394"/>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Recognize and reward consistently high-performing gurus to encourage service excellence.</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Study the interaction patterns and service approaches of highly rated gurus to develop targeted training programs for other team members.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Monitor customer ratings regularly as a key performance indicator (KPI) to evaluate service quality, identify performance trends, and support data-driven operational decisions.</a:t>
            </a:r>
            <a:endParaRPr/>
          </a:p>
        </p:txBody>
      </p:sp>
      <p:sp>
        <p:nvSpPr>
          <p:cNvPr id="279" name="Google Shape;279;p11"/>
          <p:cNvSpPr txBox="1"/>
          <p:nvPr/>
        </p:nvSpPr>
        <p:spPr>
          <a:xfrm>
            <a:off x="1028700" y="695794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280" name="Google Shape;280;p11"/>
          <p:cNvSpPr txBox="1"/>
          <p:nvPr/>
        </p:nvSpPr>
        <p:spPr>
          <a:xfrm>
            <a:off x="943432" y="7597644"/>
            <a:ext cx="16315868" cy="2715040"/>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Tarot Mystical and Astro Pujaa Rai achieved the highest average rating of 7.50, jointly ranking as the top-performing gurus.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remaining top 10 gurus maintained average ratings between 5.00 and 5.95, indicating consistently positive customer feedback.</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difference between the highest-rated guru (7.50) and the tenth-ranked guru (5.00) is 2.50 rating points, showing a noticeable variation in customer satisfaction among the top performers.</a:t>
            </a:r>
            <a:endParaRPr/>
          </a:p>
          <a:p>
            <a:pPr indent="-266421" lvl="2" marL="799262" marR="0" rtl="0" algn="l">
              <a:lnSpc>
                <a:spcPct val="168540"/>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All top 10 gurus received average ratings of 5.00 or above, reflecting a generally high level of customer satisfaction among the highest-ranked consultants.</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8" name="Shape 288"/>
        <p:cNvGrpSpPr/>
        <p:nvPr/>
      </p:nvGrpSpPr>
      <p:grpSpPr>
        <a:xfrm>
          <a:off x="0" y="0"/>
          <a:ext cx="0" cy="0"/>
          <a:chOff x="0" y="0"/>
          <a:chExt cx="0" cy="0"/>
        </a:xfrm>
      </p:grpSpPr>
      <p:sp>
        <p:nvSpPr>
          <p:cNvPr id="289" name="Google Shape;289;p12"/>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290" name="Google Shape;290;p12"/>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291" name="Google Shape;291;p12"/>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Guru Workload Analysis</a:t>
            </a:r>
            <a:endParaRPr/>
          </a:p>
        </p:txBody>
      </p:sp>
      <p:sp>
        <p:nvSpPr>
          <p:cNvPr descr="preencoded.png" id="292" name="Google Shape;292;p12"/>
          <p:cNvSpPr/>
          <p:nvPr/>
        </p:nvSpPr>
        <p:spPr>
          <a:xfrm>
            <a:off x="992991" y="1365371"/>
            <a:ext cx="9952543" cy="5573537"/>
          </a:xfrm>
          <a:custGeom>
            <a:rect b="b" l="l" r="r" t="t"/>
            <a:pathLst>
              <a:path extrusionOk="0" h="10523982" w="18792444">
                <a:moveTo>
                  <a:pt x="0" y="0"/>
                </a:moveTo>
                <a:lnTo>
                  <a:pt x="18792444" y="0"/>
                </a:lnTo>
                <a:lnTo>
                  <a:pt x="18792444" y="10523982"/>
                </a:lnTo>
                <a:lnTo>
                  <a:pt x="0" y="10523982"/>
                </a:lnTo>
                <a:lnTo>
                  <a:pt x="0" y="0"/>
                </a:lnTo>
                <a:close/>
              </a:path>
            </a:pathLst>
          </a:custGeom>
          <a:blipFill rotWithShape="1">
            <a:blip r:embed="rId3">
              <a:alphaModFix/>
            </a:blip>
            <a:stretch>
              <a:fillRect b="-9" l="0" r="0" t="-9"/>
            </a:stretch>
          </a:blipFill>
          <a:ln>
            <a:noFill/>
          </a:ln>
        </p:spPr>
      </p:sp>
      <p:sp>
        <p:nvSpPr>
          <p:cNvPr id="293" name="Google Shape;293;p12"/>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294" name="Google Shape;294;p12"/>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Guru workloads are unevenly distributed across the organization. Astro Divya handled the highest number of interactions (1,056), followed by Astro Dr Balkrishna (967), whereas Astro Chandan handled substantially fewer interactions (240).</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The significant variation in interaction volumes suggests that some gurus may experience consistently higher workloads, which could affect operational efficiency and increase the risk of burnout if not managed appropriately.</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Historical workload trends provide valuable insights for workforce planning and can help ensure a balanced distribution of customer interactions during peak demand periods.</a:t>
            </a:r>
            <a:endParaRPr/>
          </a:p>
        </p:txBody>
      </p:sp>
      <p:sp>
        <p:nvSpPr>
          <p:cNvPr id="295" name="Google Shape;295;p12"/>
          <p:cNvSpPr txBox="1"/>
          <p:nvPr/>
        </p:nvSpPr>
        <p:spPr>
          <a:xfrm>
            <a:off x="992991" y="11571408"/>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Recommendations</a:t>
            </a:r>
            <a:endParaRPr/>
          </a:p>
        </p:txBody>
      </p:sp>
      <p:sp>
        <p:nvSpPr>
          <p:cNvPr id="296" name="Google Shape;296;p12"/>
          <p:cNvSpPr txBox="1"/>
          <p:nvPr/>
        </p:nvSpPr>
        <p:spPr>
          <a:xfrm>
            <a:off x="992991" y="11991394"/>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Balance customer assignments across gurus to prevent excessive workloads and improve operational efficiency.</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Regularly monitor guru-level workload metrics to identify capacity constraints and support better workforce planning.</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Allocate additional staffing or schedule support during peak periods for gurus handling consistently high interaction volumes to maintain service quality and employee well-being.</a:t>
            </a:r>
            <a:endParaRPr/>
          </a:p>
        </p:txBody>
      </p:sp>
      <p:sp>
        <p:nvSpPr>
          <p:cNvPr id="297" name="Google Shape;297;p12"/>
          <p:cNvSpPr txBox="1"/>
          <p:nvPr/>
        </p:nvSpPr>
        <p:spPr>
          <a:xfrm>
            <a:off x="1028700" y="695794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298" name="Google Shape;298;p12"/>
          <p:cNvSpPr txBox="1"/>
          <p:nvPr/>
        </p:nvSpPr>
        <p:spPr>
          <a:xfrm>
            <a:off x="943432" y="7597644"/>
            <a:ext cx="16315868" cy="2715040"/>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Astro Divya handled the highest workload with approximately 1.06K calls, making them the busiest guru during the analyzed period.</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Astro Dr. Balkrishna ranked second with 967 calls, indicating a consistently high consultation volume.</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Astro Ashok handled 619 calls, while Astro Chandan managed 240 calls, showing a significant variation in workload across gurus.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busiest guru (Astro Divya) handled over four times as many calls as Astro Chandan (1.06K vs. 240), highlighting an uneven distribution of customer interactions.</a:t>
            </a: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6" name="Shape 306"/>
        <p:cNvGrpSpPr/>
        <p:nvPr/>
      </p:nvGrpSpPr>
      <p:grpSpPr>
        <a:xfrm>
          <a:off x="0" y="0"/>
          <a:ext cx="0" cy="0"/>
          <a:chOff x="0" y="0"/>
          <a:chExt cx="0" cy="0"/>
        </a:xfrm>
      </p:grpSpPr>
      <p:sp>
        <p:nvSpPr>
          <p:cNvPr id="307" name="Google Shape;307;p13"/>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308" name="Google Shape;308;p13"/>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309" name="Google Shape;309;p13"/>
          <p:cNvSpPr txBox="1"/>
          <p:nvPr/>
        </p:nvSpPr>
        <p:spPr>
          <a:xfrm>
            <a:off x="992991" y="675542"/>
            <a:ext cx="16315868" cy="548030"/>
          </a:xfrm>
          <a:prstGeom prst="rect">
            <a:avLst/>
          </a:prstGeom>
          <a:noFill/>
          <a:ln>
            <a:noFill/>
          </a:ln>
        </p:spPr>
        <p:txBody>
          <a:bodyPr anchorCtr="0" anchor="t" bIns="0" lIns="0" spcFirstLastPara="1" rIns="0" wrap="square" tIns="0">
            <a:spAutoFit/>
          </a:bodyPr>
          <a:lstStyle/>
          <a:p>
            <a:pPr indent="0" lvl="0" marL="0" marR="0" rtl="0" algn="l">
              <a:lnSpc>
                <a:spcPct val="149747"/>
              </a:lnSpc>
              <a:spcBef>
                <a:spcPts val="0"/>
              </a:spcBef>
              <a:spcAft>
                <a:spcPts val="0"/>
              </a:spcAft>
              <a:buNone/>
            </a:pPr>
            <a:r>
              <a:rPr b="1" i="0" lang="en-US" sz="2776" u="none" cap="none" strike="noStrike">
                <a:solidFill>
                  <a:srgbClr val="000000"/>
                </a:solidFill>
                <a:latin typeface="Inter"/>
                <a:ea typeface="Inter"/>
                <a:cs typeface="Inter"/>
                <a:sym typeface="Inter"/>
              </a:rPr>
              <a:t>Customer Rating Distribution</a:t>
            </a:r>
            <a:endParaRPr/>
          </a:p>
        </p:txBody>
      </p:sp>
      <p:sp>
        <p:nvSpPr>
          <p:cNvPr descr="preencoded.png" id="310" name="Google Shape;310;p13"/>
          <p:cNvSpPr/>
          <p:nvPr/>
        </p:nvSpPr>
        <p:spPr>
          <a:xfrm>
            <a:off x="992991" y="1365371"/>
            <a:ext cx="10358952" cy="5801131"/>
          </a:xfrm>
          <a:custGeom>
            <a:rect b="b" l="l" r="r" t="t"/>
            <a:pathLst>
              <a:path extrusionOk="0" h="10523982" w="18792444">
                <a:moveTo>
                  <a:pt x="0" y="0"/>
                </a:moveTo>
                <a:lnTo>
                  <a:pt x="18792444" y="0"/>
                </a:lnTo>
                <a:lnTo>
                  <a:pt x="18792444" y="10523982"/>
                </a:lnTo>
                <a:lnTo>
                  <a:pt x="0" y="10523982"/>
                </a:lnTo>
                <a:lnTo>
                  <a:pt x="0" y="0"/>
                </a:lnTo>
                <a:close/>
              </a:path>
            </a:pathLst>
          </a:custGeom>
          <a:blipFill rotWithShape="1">
            <a:blip r:embed="rId3">
              <a:alphaModFix/>
            </a:blip>
            <a:stretch>
              <a:fillRect b="-9" l="0" r="0" t="-9"/>
            </a:stretch>
          </a:blipFill>
          <a:ln>
            <a:noFill/>
          </a:ln>
        </p:spPr>
      </p:sp>
      <p:sp>
        <p:nvSpPr>
          <p:cNvPr id="311" name="Google Shape;311;p13"/>
          <p:cNvSpPr txBox="1"/>
          <p:nvPr/>
        </p:nvSpPr>
        <p:spPr>
          <a:xfrm>
            <a:off x="992991" y="10532516"/>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Key Insights</a:t>
            </a:r>
            <a:endParaRPr/>
          </a:p>
        </p:txBody>
      </p:sp>
      <p:sp>
        <p:nvSpPr>
          <p:cNvPr id="312" name="Google Shape;312;p13"/>
          <p:cNvSpPr txBox="1"/>
          <p:nvPr/>
        </p:nvSpPr>
        <p:spPr>
          <a:xfrm>
            <a:off x="992991" y="10952502"/>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Rating 0 has the highest frequency with </a:t>
            </a:r>
            <a:r>
              <a:rPr b="1" i="0" lang="en-US" sz="1050" u="none" cap="none" strike="noStrike">
                <a:solidFill>
                  <a:srgbClr val="272525"/>
                </a:solidFill>
                <a:latin typeface="Inter"/>
                <a:ea typeface="Inter"/>
                <a:cs typeface="Inter"/>
                <a:sym typeface="Inter"/>
              </a:rPr>
              <a:t>7,256 interactions</a:t>
            </a:r>
            <a:r>
              <a:rPr b="0" i="0" lang="en-US" sz="1050" u="none" cap="none" strike="noStrike">
                <a:solidFill>
                  <a:srgbClr val="272525"/>
                </a:solidFill>
                <a:latin typeface="Inter"/>
                <a:ea typeface="Inter"/>
                <a:cs typeface="Inter"/>
                <a:sym typeface="Inter"/>
              </a:rPr>
              <a:t>, indicating significant opportunities for improving customer satisfaction and service quality.</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Ratings 2 and 3 collectively account for </a:t>
            </a:r>
            <a:r>
              <a:rPr b="1" i="0" lang="en-US" sz="1050" u="none" cap="none" strike="noStrike">
                <a:solidFill>
                  <a:srgbClr val="272525"/>
                </a:solidFill>
                <a:latin typeface="Inter"/>
                <a:ea typeface="Inter"/>
                <a:cs typeface="Inter"/>
                <a:sym typeface="Inter"/>
              </a:rPr>
              <a:t>8,736 interactions</a:t>
            </a:r>
            <a:r>
              <a:rPr b="0" i="0" lang="en-US" sz="1050" u="none" cap="none" strike="noStrike">
                <a:solidFill>
                  <a:srgbClr val="272525"/>
                </a:solidFill>
                <a:latin typeface="Inter"/>
                <a:ea typeface="Inter"/>
                <a:cs typeface="Inter"/>
                <a:sym typeface="Inter"/>
              </a:rPr>
              <a:t>, representing a significant proportion of customers with moderate satisfaction levels.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Higher ratings (6 to 8) collectively account for </a:t>
            </a:r>
            <a:r>
              <a:rPr b="1" i="0" lang="en-US" sz="1050" u="none" cap="none" strike="noStrike">
                <a:solidFill>
                  <a:srgbClr val="272525"/>
                </a:solidFill>
                <a:latin typeface="Inter"/>
                <a:ea typeface="Inter"/>
                <a:cs typeface="Inter"/>
                <a:sym typeface="Inter"/>
              </a:rPr>
              <a:t>5,535 interactions</a:t>
            </a:r>
            <a:r>
              <a:rPr b="0" i="0" lang="en-US" sz="1050" u="none" cap="none" strike="noStrike">
                <a:solidFill>
                  <a:srgbClr val="272525"/>
                </a:solidFill>
                <a:latin typeface="Inter"/>
                <a:ea typeface="Inter"/>
                <a:cs typeface="Inter"/>
                <a:sym typeface="Inter"/>
              </a:rPr>
              <a:t>, indicating opportunities to further improve customer experiences and increase the proportion of highly satisfied customers.</a:t>
            </a:r>
            <a:endParaRPr/>
          </a:p>
        </p:txBody>
      </p:sp>
      <p:sp>
        <p:nvSpPr>
          <p:cNvPr id="313" name="Google Shape;313;p13"/>
          <p:cNvSpPr txBox="1"/>
          <p:nvPr/>
        </p:nvSpPr>
        <p:spPr>
          <a:xfrm>
            <a:off x="992991" y="11571408"/>
            <a:ext cx="16315868" cy="342214"/>
          </a:xfrm>
          <a:prstGeom prst="rect">
            <a:avLst/>
          </a:prstGeom>
          <a:noFill/>
          <a:ln>
            <a:noFill/>
          </a:ln>
        </p:spPr>
        <p:txBody>
          <a:bodyPr anchorCtr="0" anchor="t" bIns="0" lIns="0" spcFirstLastPara="1" rIns="0" wrap="square" tIns="0">
            <a:spAutoFit/>
          </a:bodyPr>
          <a:lstStyle/>
          <a:p>
            <a:pPr indent="0" lvl="0" marL="0" marR="0" rtl="0" algn="l">
              <a:lnSpc>
                <a:spcPct val="149666"/>
              </a:lnSpc>
              <a:spcBef>
                <a:spcPts val="0"/>
              </a:spcBef>
              <a:spcAft>
                <a:spcPts val="0"/>
              </a:spcAft>
              <a:buNone/>
            </a:pPr>
            <a:r>
              <a:rPr b="1" i="0" lang="en-US" sz="1651" u="none" cap="none" strike="noStrike">
                <a:solidFill>
                  <a:srgbClr val="000000"/>
                </a:solidFill>
                <a:latin typeface="Inter"/>
                <a:ea typeface="Inter"/>
                <a:cs typeface="Inter"/>
                <a:sym typeface="Inter"/>
              </a:rPr>
              <a:t>Recommendations</a:t>
            </a:r>
            <a:endParaRPr/>
          </a:p>
        </p:txBody>
      </p:sp>
      <p:sp>
        <p:nvSpPr>
          <p:cNvPr id="314" name="Google Shape;314;p13"/>
          <p:cNvSpPr txBox="1"/>
          <p:nvPr/>
        </p:nvSpPr>
        <p:spPr>
          <a:xfrm>
            <a:off x="992991" y="11991394"/>
            <a:ext cx="16315868" cy="588759"/>
          </a:xfrm>
          <a:prstGeom prst="rect">
            <a:avLst/>
          </a:prstGeom>
          <a:noFill/>
          <a:ln>
            <a:noFill/>
          </a:ln>
        </p:spPr>
        <p:txBody>
          <a:bodyPr anchorCtr="0" anchor="t" bIns="0" lIns="0" spcFirstLastPara="1" rIns="0" wrap="square" tIns="0">
            <a:spAutoFit/>
          </a:bodyPr>
          <a:lstStyle/>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Prioritize investigating the causes of zero and low ratings to identify operational bottlenecks and service quality issues.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Develop targeted training and quality improvement initiatives aimed at moving customers from moderate ratings (2 and 3) to higher satisfaction levels.</a:t>
            </a:r>
            <a:endParaRPr/>
          </a:p>
          <a:p>
            <a:pPr indent="-66675" lvl="2" marL="221842" marR="0" rtl="0" algn="l">
              <a:lnSpc>
                <a:spcPct val="144000"/>
              </a:lnSpc>
              <a:spcBef>
                <a:spcPts val="0"/>
              </a:spcBef>
              <a:spcAft>
                <a:spcPts val="0"/>
              </a:spcAft>
              <a:buClr>
                <a:srgbClr val="272525"/>
              </a:buClr>
              <a:buSzPts val="1050"/>
              <a:buFont typeface="Arial"/>
              <a:buChar char="⚬"/>
            </a:pPr>
            <a:r>
              <a:rPr b="0" i="0" lang="en-US" sz="1050" u="none" cap="none" strike="noStrike">
                <a:solidFill>
                  <a:srgbClr val="272525"/>
                </a:solidFill>
                <a:latin typeface="Inter"/>
                <a:ea typeface="Inter"/>
                <a:cs typeface="Inter"/>
                <a:sym typeface="Inter"/>
              </a:rPr>
              <a:t>Continuously monitor customer rating trends using interactive dashboards to measure the impact of operational improvements over time.</a:t>
            </a:r>
            <a:endParaRPr/>
          </a:p>
        </p:txBody>
      </p:sp>
      <p:sp>
        <p:nvSpPr>
          <p:cNvPr id="315" name="Google Shape;315;p13"/>
          <p:cNvSpPr txBox="1"/>
          <p:nvPr/>
        </p:nvSpPr>
        <p:spPr>
          <a:xfrm>
            <a:off x="1028700" y="6957944"/>
            <a:ext cx="16315868" cy="458725"/>
          </a:xfrm>
          <a:prstGeom prst="rect">
            <a:avLst/>
          </a:prstGeom>
          <a:noFill/>
          <a:ln>
            <a:noFill/>
          </a:ln>
        </p:spPr>
        <p:txBody>
          <a:bodyPr anchorCtr="0" anchor="t" bIns="0" lIns="0" spcFirstLastPara="1" rIns="0" wrap="square" tIns="0">
            <a:spAutoFit/>
          </a:bodyPr>
          <a:lstStyle/>
          <a:p>
            <a:pPr indent="0" lvl="0" marL="0" marR="0" rtl="0" algn="l">
              <a:lnSpc>
                <a:spcPct val="149858"/>
              </a:lnSpc>
              <a:spcBef>
                <a:spcPts val="0"/>
              </a:spcBef>
              <a:spcAft>
                <a:spcPts val="0"/>
              </a:spcAft>
              <a:buNone/>
            </a:pPr>
            <a:r>
              <a:rPr b="1" i="0" lang="en-US" sz="2475" u="none" cap="none" strike="noStrike">
                <a:solidFill>
                  <a:srgbClr val="000000"/>
                </a:solidFill>
                <a:latin typeface="Inter"/>
                <a:ea typeface="Inter"/>
                <a:cs typeface="Inter"/>
                <a:sym typeface="Inter"/>
              </a:rPr>
              <a:t>Key Insights</a:t>
            </a:r>
            <a:endParaRPr/>
          </a:p>
        </p:txBody>
      </p:sp>
      <p:sp>
        <p:nvSpPr>
          <p:cNvPr id="316" name="Google Shape;316;p13"/>
          <p:cNvSpPr txBox="1"/>
          <p:nvPr/>
        </p:nvSpPr>
        <p:spPr>
          <a:xfrm>
            <a:off x="943432" y="7597644"/>
            <a:ext cx="16315868" cy="3496090"/>
          </a:xfrm>
          <a:prstGeom prst="rect">
            <a:avLst/>
          </a:prstGeom>
          <a:noFill/>
          <a:ln>
            <a:noFill/>
          </a:ln>
        </p:spPr>
        <p:txBody>
          <a:bodyPr anchorCtr="0" anchor="t" bIns="0" lIns="0" spcFirstLastPara="1" rIns="0" wrap="square" tIns="0">
            <a:spAutoFit/>
          </a:bodyPr>
          <a:lstStyle/>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Rating 0 was the most frequently recorded rating, with approximately 7.26K records, representing the largest share of customer ratings.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Ratings 2 and 3 were the next most common, with approximately 4.33K and 4.41K records respectively, indicating moderate customer satisfaction levels.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Higher ratings (6–8) were comparatively less frequent, with each category receiving fewer than 2K ratings.</a:t>
            </a:r>
            <a:endParaRPr/>
          </a:p>
          <a:p>
            <a:pPr indent="-266421" lvl="2" marL="799262" marR="0" rtl="0" algn="l">
              <a:lnSpc>
                <a:spcPct val="168486"/>
              </a:lnSpc>
              <a:spcBef>
                <a:spcPts val="0"/>
              </a:spcBef>
              <a:spcAft>
                <a:spcPts val="0"/>
              </a:spcAft>
              <a:buClr>
                <a:srgbClr val="272525"/>
              </a:buClr>
              <a:buSzPts val="1850"/>
              <a:buFont typeface="Arial"/>
              <a:buChar char="⚬"/>
            </a:pPr>
            <a:r>
              <a:rPr b="0" i="0" lang="en-US" sz="1850" u="none" cap="none" strike="noStrike">
                <a:solidFill>
                  <a:srgbClr val="272525"/>
                </a:solidFill>
                <a:latin typeface="Inter"/>
                <a:ea typeface="Inter"/>
                <a:cs typeface="Inter"/>
                <a:sym typeface="Inter"/>
              </a:rPr>
              <a:t>The distribution is skewed toward lower rating values, suggesting that low to moderate ratings were more common than high ratings during the analyzed period.</a:t>
            </a:r>
            <a:endParaRPr/>
          </a:p>
          <a:p>
            <a:pPr indent="0" lvl="0" marL="0" marR="0" rtl="0" algn="l">
              <a:lnSpc>
                <a:spcPct val="168486"/>
              </a:lnSpc>
              <a:spcBef>
                <a:spcPts val="0"/>
              </a:spcBef>
              <a:spcAft>
                <a:spcPts val="0"/>
              </a:spcAft>
              <a:buNone/>
            </a:pPr>
            <a:r>
              <a:t/>
            </a:r>
            <a:endParaRPr b="0" i="0" sz="1850" u="none" cap="none" strike="noStrike">
              <a:solidFill>
                <a:srgbClr val="272525"/>
              </a:solidFill>
              <a:latin typeface="Inter"/>
              <a:ea typeface="Inter"/>
              <a:cs typeface="Inter"/>
              <a:sym typeface="Inte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a:p>
            <a:pPr indent="0" lvl="0" marL="0" marR="0" rtl="0" algn="l">
              <a:lnSpc>
                <a:spcPct val="168540"/>
              </a:lnSpc>
              <a:spcBef>
                <a:spcPts val="0"/>
              </a:spcBef>
              <a:spcAft>
                <a:spcPts val="0"/>
              </a:spcAft>
              <a:buNone/>
            </a:pPr>
            <a:r>
              <a:t/>
            </a:r>
            <a:endParaRPr b="0" i="0" sz="1850" u="none" cap="none" strike="noStrike">
              <a:solidFill>
                <a:srgbClr val="272525"/>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4" name="Shape 324"/>
        <p:cNvGrpSpPr/>
        <p:nvPr/>
      </p:nvGrpSpPr>
      <p:grpSpPr>
        <a:xfrm>
          <a:off x="0" y="0"/>
          <a:ext cx="0" cy="0"/>
          <a:chOff x="0" y="0"/>
          <a:chExt cx="0" cy="0"/>
        </a:xfrm>
      </p:grpSpPr>
      <p:sp>
        <p:nvSpPr>
          <p:cNvPr id="325" name="Google Shape;325;p14"/>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326" name="Google Shape;326;p14"/>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327" name="Google Shape;327;p14"/>
          <p:cNvSpPr txBox="1"/>
          <p:nvPr/>
        </p:nvSpPr>
        <p:spPr>
          <a:xfrm>
            <a:off x="992991" y="729043"/>
            <a:ext cx="16315868" cy="835619"/>
          </a:xfrm>
          <a:prstGeom prst="rect">
            <a:avLst/>
          </a:prstGeom>
          <a:noFill/>
          <a:ln>
            <a:noFill/>
          </a:ln>
        </p:spPr>
        <p:txBody>
          <a:bodyPr anchorCtr="0" anchor="t" bIns="0" lIns="0" spcFirstLastPara="1" rIns="0" wrap="square" tIns="0">
            <a:spAutoFit/>
          </a:bodyPr>
          <a:lstStyle/>
          <a:p>
            <a:pPr indent="0" lvl="0" marL="0" marR="0" rtl="0" algn="l">
              <a:lnSpc>
                <a:spcPct val="149758"/>
              </a:lnSpc>
              <a:spcBef>
                <a:spcPts val="0"/>
              </a:spcBef>
              <a:spcAft>
                <a:spcPts val="0"/>
              </a:spcAft>
              <a:buNone/>
            </a:pPr>
            <a:r>
              <a:rPr b="1" i="0" lang="en-US" sz="4353" u="none" cap="none" strike="noStrike">
                <a:solidFill>
                  <a:srgbClr val="000000"/>
                </a:solidFill>
                <a:latin typeface="Inter"/>
                <a:ea typeface="Inter"/>
                <a:cs typeface="Inter"/>
                <a:sym typeface="Inter"/>
              </a:rPr>
              <a:t>Technology Recommendations</a:t>
            </a:r>
            <a:endParaRPr/>
          </a:p>
        </p:txBody>
      </p:sp>
      <p:sp>
        <p:nvSpPr>
          <p:cNvPr descr="preencoded.png" id="328" name="Google Shape;328;p14"/>
          <p:cNvSpPr/>
          <p:nvPr/>
        </p:nvSpPr>
        <p:spPr>
          <a:xfrm>
            <a:off x="992991" y="1910963"/>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3">
              <a:alphaModFix/>
            </a:blip>
            <a:stretch>
              <a:fillRect b="0" l="0" r="0" t="0"/>
            </a:stretch>
          </a:blipFill>
          <a:ln>
            <a:noFill/>
          </a:ln>
        </p:spPr>
      </p:sp>
      <p:sp>
        <p:nvSpPr>
          <p:cNvPr id="329" name="Google Shape;329;p14"/>
          <p:cNvSpPr txBox="1"/>
          <p:nvPr/>
        </p:nvSpPr>
        <p:spPr>
          <a:xfrm>
            <a:off x="992991" y="2614774"/>
            <a:ext cx="5294252"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AI Chatbots</a:t>
            </a:r>
            <a:endParaRPr/>
          </a:p>
        </p:txBody>
      </p:sp>
      <p:sp>
        <p:nvSpPr>
          <p:cNvPr id="330" name="Google Shape;330;p14"/>
          <p:cNvSpPr txBox="1"/>
          <p:nvPr/>
        </p:nvSpPr>
        <p:spPr>
          <a:xfrm>
            <a:off x="992991" y="3007728"/>
            <a:ext cx="5294252"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Intelligent chatbots for initial triage, FAQ handling, and after-hours support to reduce call volume and improve customer experience.</a:t>
            </a:r>
            <a:endParaRPr/>
          </a:p>
        </p:txBody>
      </p:sp>
      <p:sp>
        <p:nvSpPr>
          <p:cNvPr descr="preencoded.png" id="331" name="Google Shape;331;p14"/>
          <p:cNvSpPr/>
          <p:nvPr/>
        </p:nvSpPr>
        <p:spPr>
          <a:xfrm>
            <a:off x="6503651" y="1910963"/>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4">
              <a:alphaModFix/>
            </a:blip>
            <a:stretch>
              <a:fillRect b="0" l="0" r="0" t="0"/>
            </a:stretch>
          </a:blipFill>
          <a:ln>
            <a:noFill/>
          </a:ln>
        </p:spPr>
      </p:sp>
      <p:sp>
        <p:nvSpPr>
          <p:cNvPr id="332" name="Google Shape;332;p14"/>
          <p:cNvSpPr txBox="1"/>
          <p:nvPr/>
        </p:nvSpPr>
        <p:spPr>
          <a:xfrm>
            <a:off x="6503651" y="2614774"/>
            <a:ext cx="5294395"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Workforce Management Systems</a:t>
            </a:r>
            <a:endParaRPr/>
          </a:p>
        </p:txBody>
      </p:sp>
      <p:sp>
        <p:nvSpPr>
          <p:cNvPr id="333" name="Google Shape;333;p14"/>
          <p:cNvSpPr txBox="1"/>
          <p:nvPr/>
        </p:nvSpPr>
        <p:spPr>
          <a:xfrm>
            <a:off x="6503651" y="3007728"/>
            <a:ext cx="5294395"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Real-time scheduling and forecasting to optimize staffing levels during peak hours and reduce operational costs.</a:t>
            </a:r>
            <a:endParaRPr/>
          </a:p>
        </p:txBody>
      </p:sp>
      <p:sp>
        <p:nvSpPr>
          <p:cNvPr descr="preencoded.png" id="334" name="Google Shape;334;p14"/>
          <p:cNvSpPr/>
          <p:nvPr/>
        </p:nvSpPr>
        <p:spPr>
          <a:xfrm>
            <a:off x="12014454" y="1910963"/>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5">
              <a:alphaModFix/>
            </a:blip>
            <a:stretch>
              <a:fillRect b="0" l="0" r="0" t="0"/>
            </a:stretch>
          </a:blipFill>
          <a:ln>
            <a:noFill/>
          </a:ln>
        </p:spPr>
      </p:sp>
      <p:sp>
        <p:nvSpPr>
          <p:cNvPr id="335" name="Google Shape;335;p14"/>
          <p:cNvSpPr txBox="1"/>
          <p:nvPr/>
        </p:nvSpPr>
        <p:spPr>
          <a:xfrm>
            <a:off x="12014454" y="2614774"/>
            <a:ext cx="5294395"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CRM Integration</a:t>
            </a:r>
            <a:endParaRPr/>
          </a:p>
        </p:txBody>
      </p:sp>
      <p:sp>
        <p:nvSpPr>
          <p:cNvPr id="336" name="Google Shape;336;p14"/>
          <p:cNvSpPr txBox="1"/>
          <p:nvPr/>
        </p:nvSpPr>
        <p:spPr>
          <a:xfrm>
            <a:off x="12014454" y="3007728"/>
            <a:ext cx="5294395"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Unified customer interaction history to enable personalized service, improve retention, and identify upsell opportunities.</a:t>
            </a:r>
            <a:endParaRPr/>
          </a:p>
        </p:txBody>
      </p:sp>
      <p:sp>
        <p:nvSpPr>
          <p:cNvPr descr="preencoded.png" id="337" name="Google Shape;337;p14"/>
          <p:cNvSpPr/>
          <p:nvPr/>
        </p:nvSpPr>
        <p:spPr>
          <a:xfrm>
            <a:off x="992991" y="4425144"/>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6">
              <a:alphaModFix/>
            </a:blip>
            <a:stretch>
              <a:fillRect b="0" l="0" r="0" t="0"/>
            </a:stretch>
          </a:blipFill>
          <a:ln>
            <a:noFill/>
          </a:ln>
        </p:spPr>
      </p:sp>
      <p:sp>
        <p:nvSpPr>
          <p:cNvPr id="338" name="Google Shape;338;p14"/>
          <p:cNvSpPr txBox="1"/>
          <p:nvPr/>
        </p:nvSpPr>
        <p:spPr>
          <a:xfrm>
            <a:off x="992991" y="5128955"/>
            <a:ext cx="5294252"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Intelligent Call Routing</a:t>
            </a:r>
            <a:endParaRPr/>
          </a:p>
        </p:txBody>
      </p:sp>
      <p:sp>
        <p:nvSpPr>
          <p:cNvPr id="339" name="Google Shape;339;p14"/>
          <p:cNvSpPr txBox="1"/>
          <p:nvPr/>
        </p:nvSpPr>
        <p:spPr>
          <a:xfrm>
            <a:off x="992991" y="5521919"/>
            <a:ext cx="5294252" cy="1386878"/>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Automated call distribution based on guru expertise, availability, and customer preferences to reduce wait times and improve first-contact resolution.</a:t>
            </a:r>
            <a:endParaRPr/>
          </a:p>
        </p:txBody>
      </p:sp>
      <p:sp>
        <p:nvSpPr>
          <p:cNvPr descr="preencoded.png" id="340" name="Google Shape;340;p14"/>
          <p:cNvSpPr/>
          <p:nvPr/>
        </p:nvSpPr>
        <p:spPr>
          <a:xfrm>
            <a:off x="6503651" y="4425144"/>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7">
              <a:alphaModFix/>
            </a:blip>
            <a:stretch>
              <a:fillRect b="0" l="0" r="0" t="0"/>
            </a:stretch>
          </a:blipFill>
          <a:ln>
            <a:noFill/>
          </a:ln>
        </p:spPr>
      </p:sp>
      <p:sp>
        <p:nvSpPr>
          <p:cNvPr id="341" name="Google Shape;341;p14"/>
          <p:cNvSpPr txBox="1"/>
          <p:nvPr/>
        </p:nvSpPr>
        <p:spPr>
          <a:xfrm>
            <a:off x="6503651" y="5128955"/>
            <a:ext cx="5294395"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Speech Analytics</a:t>
            </a:r>
            <a:endParaRPr/>
          </a:p>
        </p:txBody>
      </p:sp>
      <p:sp>
        <p:nvSpPr>
          <p:cNvPr id="342" name="Google Shape;342;p14"/>
          <p:cNvSpPr txBox="1"/>
          <p:nvPr/>
        </p:nvSpPr>
        <p:spPr>
          <a:xfrm>
            <a:off x="6503651" y="5521919"/>
            <a:ext cx="5294395"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Automated analysis of call recordings to identify service quality issues, training needs, and customer sentiment patterns.</a:t>
            </a:r>
            <a:endParaRPr/>
          </a:p>
        </p:txBody>
      </p:sp>
      <p:sp>
        <p:nvSpPr>
          <p:cNvPr descr="preencoded.png" id="343" name="Google Shape;343;p14"/>
          <p:cNvSpPr/>
          <p:nvPr/>
        </p:nvSpPr>
        <p:spPr>
          <a:xfrm>
            <a:off x="12014454" y="4425144"/>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8">
              <a:alphaModFix/>
            </a:blip>
            <a:stretch>
              <a:fillRect b="0" l="0" r="0" t="0"/>
            </a:stretch>
          </a:blipFill>
          <a:ln>
            <a:noFill/>
          </a:ln>
        </p:spPr>
      </p:sp>
      <p:sp>
        <p:nvSpPr>
          <p:cNvPr id="344" name="Google Shape;344;p14"/>
          <p:cNvSpPr txBox="1"/>
          <p:nvPr/>
        </p:nvSpPr>
        <p:spPr>
          <a:xfrm>
            <a:off x="12014454" y="5128955"/>
            <a:ext cx="5294395"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Real-time Reporting Dashboards</a:t>
            </a:r>
            <a:endParaRPr/>
          </a:p>
        </p:txBody>
      </p:sp>
      <p:sp>
        <p:nvSpPr>
          <p:cNvPr id="345" name="Google Shape;345;p14"/>
          <p:cNvSpPr txBox="1"/>
          <p:nvPr/>
        </p:nvSpPr>
        <p:spPr>
          <a:xfrm>
            <a:off x="12014454" y="5521919"/>
            <a:ext cx="5294395"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Live KPI monitoring for managers and leadership to enable quick decision-making and performance optimization.</a:t>
            </a:r>
            <a:endParaRPr/>
          </a:p>
        </p:txBody>
      </p:sp>
      <p:sp>
        <p:nvSpPr>
          <p:cNvPr descr="preencoded.png" id="346" name="Google Shape;346;p14"/>
          <p:cNvSpPr/>
          <p:nvPr/>
        </p:nvSpPr>
        <p:spPr>
          <a:xfrm>
            <a:off x="992991" y="7255088"/>
            <a:ext cx="554070" cy="554069"/>
          </a:xfrm>
          <a:custGeom>
            <a:rect b="b" l="l" r="r" t="t"/>
            <a:pathLst>
              <a:path extrusionOk="0" h="738759" w="738759">
                <a:moveTo>
                  <a:pt x="0" y="0"/>
                </a:moveTo>
                <a:lnTo>
                  <a:pt x="738759" y="0"/>
                </a:lnTo>
                <a:lnTo>
                  <a:pt x="738759" y="738759"/>
                </a:lnTo>
                <a:lnTo>
                  <a:pt x="0" y="738759"/>
                </a:lnTo>
                <a:lnTo>
                  <a:pt x="0" y="0"/>
                </a:lnTo>
                <a:close/>
              </a:path>
            </a:pathLst>
          </a:custGeom>
          <a:blipFill rotWithShape="1">
            <a:blip r:embed="rId9">
              <a:alphaModFix/>
            </a:blip>
            <a:stretch>
              <a:fillRect b="0" l="0" r="0" t="0"/>
            </a:stretch>
          </a:blipFill>
          <a:ln>
            <a:noFill/>
          </a:ln>
        </p:spPr>
      </p:sp>
      <p:sp>
        <p:nvSpPr>
          <p:cNvPr id="347" name="Google Shape;347;p14"/>
          <p:cNvSpPr txBox="1"/>
          <p:nvPr/>
        </p:nvSpPr>
        <p:spPr>
          <a:xfrm>
            <a:off x="992991" y="7958900"/>
            <a:ext cx="5294252"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Customer Feedback Analytics</a:t>
            </a:r>
            <a:endParaRPr/>
          </a:p>
        </p:txBody>
      </p:sp>
      <p:sp>
        <p:nvSpPr>
          <p:cNvPr id="348" name="Google Shape;348;p14"/>
          <p:cNvSpPr txBox="1"/>
          <p:nvPr/>
        </p:nvSpPr>
        <p:spPr>
          <a:xfrm>
            <a:off x="992991" y="8351863"/>
            <a:ext cx="5294252"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Automated sentiment analysis and feedback collection to identify service gaps and drive continuous improvement.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6" name="Shape 356"/>
        <p:cNvGrpSpPr/>
        <p:nvPr/>
      </p:nvGrpSpPr>
      <p:grpSpPr>
        <a:xfrm>
          <a:off x="0" y="0"/>
          <a:ext cx="0" cy="0"/>
          <a:chOff x="0" y="0"/>
          <a:chExt cx="0" cy="0"/>
        </a:xfrm>
      </p:grpSpPr>
      <p:sp>
        <p:nvSpPr>
          <p:cNvPr id="357" name="Google Shape;357;p15"/>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358" name="Google Shape;358;p15"/>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359" name="Google Shape;359;p15"/>
          <p:cNvSpPr txBox="1"/>
          <p:nvPr/>
        </p:nvSpPr>
        <p:spPr>
          <a:xfrm>
            <a:off x="992991" y="672160"/>
            <a:ext cx="16315868" cy="882367"/>
          </a:xfrm>
          <a:prstGeom prst="rect">
            <a:avLst/>
          </a:prstGeom>
          <a:noFill/>
          <a:ln>
            <a:noFill/>
          </a:ln>
        </p:spPr>
        <p:txBody>
          <a:bodyPr anchorCtr="0" anchor="t" bIns="0" lIns="0" spcFirstLastPara="1" rIns="0" wrap="square" tIns="0">
            <a:spAutoFit/>
          </a:bodyPr>
          <a:lstStyle/>
          <a:p>
            <a:pPr indent="0" lvl="0" marL="0" marR="0" rtl="0" algn="l">
              <a:lnSpc>
                <a:spcPct val="149744"/>
              </a:lnSpc>
              <a:spcBef>
                <a:spcPts val="0"/>
              </a:spcBef>
              <a:spcAft>
                <a:spcPts val="0"/>
              </a:spcAft>
              <a:buNone/>
            </a:pPr>
            <a:r>
              <a:rPr b="1" i="0" lang="en-US" sz="4503" u="none" cap="none" strike="noStrike">
                <a:solidFill>
                  <a:srgbClr val="000000"/>
                </a:solidFill>
                <a:latin typeface="Inter"/>
                <a:ea typeface="Inter"/>
                <a:cs typeface="Inter"/>
                <a:sym typeface="Inter"/>
              </a:rPr>
              <a:t>Business Recommendations</a:t>
            </a:r>
            <a:endParaRPr/>
          </a:p>
        </p:txBody>
      </p:sp>
      <p:sp>
        <p:nvSpPr>
          <p:cNvPr descr="preencoded.png" id="360" name="Google Shape;360;p15"/>
          <p:cNvSpPr/>
          <p:nvPr/>
        </p:nvSpPr>
        <p:spPr>
          <a:xfrm>
            <a:off x="992991" y="1929127"/>
            <a:ext cx="8064246" cy="1658970"/>
          </a:xfrm>
          <a:custGeom>
            <a:rect b="b" l="l" r="r" t="t"/>
            <a:pathLst>
              <a:path extrusionOk="0" h="2211959" w="10752328">
                <a:moveTo>
                  <a:pt x="0" y="0"/>
                </a:moveTo>
                <a:lnTo>
                  <a:pt x="10752328" y="0"/>
                </a:lnTo>
                <a:lnTo>
                  <a:pt x="10752328" y="2211959"/>
                </a:lnTo>
                <a:lnTo>
                  <a:pt x="0" y="2211959"/>
                </a:lnTo>
                <a:lnTo>
                  <a:pt x="0" y="0"/>
                </a:lnTo>
                <a:close/>
              </a:path>
            </a:pathLst>
          </a:custGeom>
          <a:blipFill rotWithShape="1">
            <a:blip r:embed="rId3">
              <a:alphaModFix/>
            </a:blip>
            <a:stretch>
              <a:fillRect b="-275" l="0" r="0" t="-277"/>
            </a:stretch>
          </a:blipFill>
          <a:ln>
            <a:noFill/>
          </a:ln>
        </p:spPr>
      </p:sp>
      <p:sp>
        <p:nvSpPr>
          <p:cNvPr id="361" name="Google Shape;361;p15"/>
          <p:cNvSpPr txBox="1"/>
          <p:nvPr/>
        </p:nvSpPr>
        <p:spPr>
          <a:xfrm>
            <a:off x="1366380" y="2102415"/>
            <a:ext cx="7431843"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Optimize Staffing During Peak Hours</a:t>
            </a:r>
            <a:endParaRPr/>
          </a:p>
        </p:txBody>
      </p:sp>
      <p:sp>
        <p:nvSpPr>
          <p:cNvPr id="362" name="Google Shape;362;p15"/>
          <p:cNvSpPr txBox="1"/>
          <p:nvPr/>
        </p:nvSpPr>
        <p:spPr>
          <a:xfrm>
            <a:off x="1366380" y="2517724"/>
            <a:ext cx="7431843"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Allocate additional resources during peak demand periods (6 AM - 4 PM) to maintain service quality and reduce customer wait times.</a:t>
            </a:r>
            <a:endParaRPr/>
          </a:p>
        </p:txBody>
      </p:sp>
      <p:sp>
        <p:nvSpPr>
          <p:cNvPr descr="preencoded.png" id="363" name="Google Shape;363;p15"/>
          <p:cNvSpPr/>
          <p:nvPr/>
        </p:nvSpPr>
        <p:spPr>
          <a:xfrm>
            <a:off x="9244451" y="1929127"/>
            <a:ext cx="8064436" cy="1658970"/>
          </a:xfrm>
          <a:custGeom>
            <a:rect b="b" l="l" r="r" t="t"/>
            <a:pathLst>
              <a:path extrusionOk="0" h="2211959" w="10752582">
                <a:moveTo>
                  <a:pt x="0" y="0"/>
                </a:moveTo>
                <a:lnTo>
                  <a:pt x="10752582" y="0"/>
                </a:lnTo>
                <a:lnTo>
                  <a:pt x="10752582" y="2211959"/>
                </a:lnTo>
                <a:lnTo>
                  <a:pt x="0" y="2211959"/>
                </a:lnTo>
                <a:lnTo>
                  <a:pt x="0" y="0"/>
                </a:lnTo>
                <a:close/>
              </a:path>
            </a:pathLst>
          </a:custGeom>
          <a:blipFill rotWithShape="1">
            <a:blip r:embed="rId4">
              <a:alphaModFix/>
            </a:blip>
            <a:stretch>
              <a:fillRect b="-217" l="0" r="0" t="-218"/>
            </a:stretch>
          </a:blipFill>
          <a:ln>
            <a:noFill/>
          </a:ln>
        </p:spPr>
      </p:sp>
      <p:sp>
        <p:nvSpPr>
          <p:cNvPr id="364" name="Google Shape;364;p15"/>
          <p:cNvSpPr txBox="1"/>
          <p:nvPr/>
        </p:nvSpPr>
        <p:spPr>
          <a:xfrm>
            <a:off x="9617850" y="2102415"/>
            <a:ext cx="7431996"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Invest in Workforce Management Technologies</a:t>
            </a:r>
            <a:endParaRPr/>
          </a:p>
        </p:txBody>
      </p:sp>
      <p:sp>
        <p:nvSpPr>
          <p:cNvPr id="365" name="Google Shape;365;p15"/>
          <p:cNvSpPr txBox="1"/>
          <p:nvPr/>
        </p:nvSpPr>
        <p:spPr>
          <a:xfrm>
            <a:off x="9617850" y="2517724"/>
            <a:ext cx="7431996"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Deploy scheduling and forecasting tools to optimize staffing levels and reduce operational costs while improving workforce utilization.</a:t>
            </a:r>
            <a:endParaRPr/>
          </a:p>
        </p:txBody>
      </p:sp>
      <p:sp>
        <p:nvSpPr>
          <p:cNvPr descr="preencoded.png" id="366" name="Google Shape;366;p15"/>
          <p:cNvSpPr/>
          <p:nvPr/>
        </p:nvSpPr>
        <p:spPr>
          <a:xfrm>
            <a:off x="992991" y="3775300"/>
            <a:ext cx="8064246" cy="1658970"/>
          </a:xfrm>
          <a:custGeom>
            <a:rect b="b" l="l" r="r" t="t"/>
            <a:pathLst>
              <a:path extrusionOk="0" h="2211959" w="10752328">
                <a:moveTo>
                  <a:pt x="0" y="0"/>
                </a:moveTo>
                <a:lnTo>
                  <a:pt x="10752328" y="0"/>
                </a:lnTo>
                <a:lnTo>
                  <a:pt x="10752328" y="2211959"/>
                </a:lnTo>
                <a:lnTo>
                  <a:pt x="0" y="2211959"/>
                </a:lnTo>
                <a:lnTo>
                  <a:pt x="0" y="0"/>
                </a:lnTo>
                <a:close/>
              </a:path>
            </a:pathLst>
          </a:custGeom>
          <a:blipFill rotWithShape="1">
            <a:blip r:embed="rId3">
              <a:alphaModFix/>
            </a:blip>
            <a:stretch>
              <a:fillRect b="-275" l="0" r="0" t="-277"/>
            </a:stretch>
          </a:blipFill>
          <a:ln>
            <a:noFill/>
          </a:ln>
        </p:spPr>
      </p:sp>
      <p:sp>
        <p:nvSpPr>
          <p:cNvPr id="367" name="Google Shape;367;p15"/>
          <p:cNvSpPr txBox="1"/>
          <p:nvPr/>
        </p:nvSpPr>
        <p:spPr>
          <a:xfrm>
            <a:off x="1366380" y="3948589"/>
            <a:ext cx="7431843"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Implement AI-Powered Customer Support</a:t>
            </a:r>
            <a:endParaRPr/>
          </a:p>
        </p:txBody>
      </p:sp>
      <p:sp>
        <p:nvSpPr>
          <p:cNvPr id="368" name="Google Shape;368;p15"/>
          <p:cNvSpPr txBox="1"/>
          <p:nvPr/>
        </p:nvSpPr>
        <p:spPr>
          <a:xfrm>
            <a:off x="1366380" y="4363888"/>
            <a:ext cx="7431843"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Deploy AI chatbots for initial triage and FAQ handling to reduce call volume and improve first-contact resolution rates.</a:t>
            </a:r>
            <a:endParaRPr/>
          </a:p>
        </p:txBody>
      </p:sp>
      <p:sp>
        <p:nvSpPr>
          <p:cNvPr descr="preencoded.png" id="369" name="Google Shape;369;p15"/>
          <p:cNvSpPr/>
          <p:nvPr/>
        </p:nvSpPr>
        <p:spPr>
          <a:xfrm>
            <a:off x="9244451" y="3775300"/>
            <a:ext cx="8064436" cy="1658970"/>
          </a:xfrm>
          <a:custGeom>
            <a:rect b="b" l="l" r="r" t="t"/>
            <a:pathLst>
              <a:path extrusionOk="0" h="2211959" w="10752582">
                <a:moveTo>
                  <a:pt x="0" y="0"/>
                </a:moveTo>
                <a:lnTo>
                  <a:pt x="10752582" y="0"/>
                </a:lnTo>
                <a:lnTo>
                  <a:pt x="10752582" y="2211959"/>
                </a:lnTo>
                <a:lnTo>
                  <a:pt x="0" y="2211959"/>
                </a:lnTo>
                <a:lnTo>
                  <a:pt x="0" y="0"/>
                </a:lnTo>
                <a:close/>
              </a:path>
            </a:pathLst>
          </a:custGeom>
          <a:blipFill rotWithShape="1">
            <a:blip r:embed="rId4">
              <a:alphaModFix/>
            </a:blip>
            <a:stretch>
              <a:fillRect b="-217" l="0" r="0" t="-218"/>
            </a:stretch>
          </a:blipFill>
          <a:ln>
            <a:noFill/>
          </a:ln>
        </p:spPr>
      </p:sp>
      <p:sp>
        <p:nvSpPr>
          <p:cNvPr id="370" name="Google Shape;370;p15"/>
          <p:cNvSpPr txBox="1"/>
          <p:nvPr/>
        </p:nvSpPr>
        <p:spPr>
          <a:xfrm>
            <a:off x="9617850" y="3948589"/>
            <a:ext cx="7431996"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Improve Customer Satisfaction Monitoring</a:t>
            </a:r>
            <a:endParaRPr/>
          </a:p>
        </p:txBody>
      </p:sp>
      <p:sp>
        <p:nvSpPr>
          <p:cNvPr id="371" name="Google Shape;371;p15"/>
          <p:cNvSpPr txBox="1"/>
          <p:nvPr/>
        </p:nvSpPr>
        <p:spPr>
          <a:xfrm>
            <a:off x="9617850" y="4363888"/>
            <a:ext cx="7431996"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Implement real-time satisfaction tracking and feedback analytics to identify and address service quality issues promptly.</a:t>
            </a:r>
            <a:endParaRPr/>
          </a:p>
        </p:txBody>
      </p:sp>
      <p:sp>
        <p:nvSpPr>
          <p:cNvPr descr="preencoded.png" id="372" name="Google Shape;372;p15"/>
          <p:cNvSpPr/>
          <p:nvPr/>
        </p:nvSpPr>
        <p:spPr>
          <a:xfrm>
            <a:off x="992991" y="5621464"/>
            <a:ext cx="8064246" cy="1993202"/>
          </a:xfrm>
          <a:custGeom>
            <a:rect b="b" l="l" r="r" t="t"/>
            <a:pathLst>
              <a:path extrusionOk="0" h="2657602" w="10752328">
                <a:moveTo>
                  <a:pt x="0" y="0"/>
                </a:moveTo>
                <a:lnTo>
                  <a:pt x="10752328" y="0"/>
                </a:lnTo>
                <a:lnTo>
                  <a:pt x="10752328" y="2657602"/>
                </a:lnTo>
                <a:lnTo>
                  <a:pt x="0" y="2657602"/>
                </a:lnTo>
                <a:lnTo>
                  <a:pt x="0" y="0"/>
                </a:lnTo>
                <a:close/>
              </a:path>
            </a:pathLst>
          </a:custGeom>
          <a:blipFill rotWithShape="1">
            <a:blip r:embed="rId5">
              <a:alphaModFix/>
            </a:blip>
            <a:stretch>
              <a:fillRect b="-214" l="0" r="0" t="-215"/>
            </a:stretch>
          </a:blipFill>
          <a:ln>
            <a:noFill/>
          </a:ln>
        </p:spPr>
      </p:sp>
      <p:sp>
        <p:nvSpPr>
          <p:cNvPr id="373" name="Google Shape;373;p15"/>
          <p:cNvSpPr txBox="1"/>
          <p:nvPr/>
        </p:nvSpPr>
        <p:spPr>
          <a:xfrm>
            <a:off x="1366380" y="5794753"/>
            <a:ext cx="7431843"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Reward High-Performing Gurus</a:t>
            </a:r>
            <a:endParaRPr/>
          </a:p>
        </p:txBody>
      </p:sp>
      <p:sp>
        <p:nvSpPr>
          <p:cNvPr id="374" name="Google Shape;374;p15"/>
          <p:cNvSpPr txBox="1"/>
          <p:nvPr/>
        </p:nvSpPr>
        <p:spPr>
          <a:xfrm>
            <a:off x="1366380" y="6210052"/>
            <a:ext cx="7431843" cy="1145572"/>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Establish recognition programs and performance incentives to motivate consultants and reduce performance gaps across the team.</a:t>
            </a:r>
            <a:endParaRPr/>
          </a:p>
        </p:txBody>
      </p:sp>
      <p:sp>
        <p:nvSpPr>
          <p:cNvPr descr="preencoded.png" id="375" name="Google Shape;375;p15"/>
          <p:cNvSpPr/>
          <p:nvPr/>
        </p:nvSpPr>
        <p:spPr>
          <a:xfrm>
            <a:off x="9244451" y="5621464"/>
            <a:ext cx="8064436" cy="1993202"/>
          </a:xfrm>
          <a:custGeom>
            <a:rect b="b" l="l" r="r" t="t"/>
            <a:pathLst>
              <a:path extrusionOk="0" h="2657602" w="10752582">
                <a:moveTo>
                  <a:pt x="0" y="0"/>
                </a:moveTo>
                <a:lnTo>
                  <a:pt x="10752582" y="0"/>
                </a:lnTo>
                <a:lnTo>
                  <a:pt x="10752582" y="2657602"/>
                </a:lnTo>
                <a:lnTo>
                  <a:pt x="0" y="2657602"/>
                </a:lnTo>
                <a:lnTo>
                  <a:pt x="0" y="0"/>
                </a:lnTo>
                <a:close/>
              </a:path>
            </a:pathLst>
          </a:custGeom>
          <a:blipFill rotWithShape="1">
            <a:blip r:embed="rId6">
              <a:alphaModFix/>
            </a:blip>
            <a:stretch>
              <a:fillRect b="-155" l="0" r="0" t="-157"/>
            </a:stretch>
          </a:blipFill>
          <a:ln>
            <a:noFill/>
          </a:ln>
        </p:spPr>
      </p:sp>
      <p:sp>
        <p:nvSpPr>
          <p:cNvPr id="376" name="Google Shape;376;p15"/>
          <p:cNvSpPr txBox="1"/>
          <p:nvPr/>
        </p:nvSpPr>
        <p:spPr>
          <a:xfrm>
            <a:off x="9617850" y="5794753"/>
            <a:ext cx="7431996"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Utilize Dashboard Analytics</a:t>
            </a:r>
            <a:endParaRPr/>
          </a:p>
        </p:txBody>
      </p:sp>
      <p:sp>
        <p:nvSpPr>
          <p:cNvPr id="377" name="Google Shape;377;p15"/>
          <p:cNvSpPr txBox="1"/>
          <p:nvPr/>
        </p:nvSpPr>
        <p:spPr>
          <a:xfrm>
            <a:off x="9617850" y="6210052"/>
            <a:ext cx="7431996"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Leverage interactive dashboards for strategic decision-making and real-time performance monitoring across all operational metrics.</a:t>
            </a:r>
            <a:endParaRPr/>
          </a:p>
        </p:txBody>
      </p:sp>
      <p:sp>
        <p:nvSpPr>
          <p:cNvPr descr="preencoded.png" id="378" name="Google Shape;378;p15"/>
          <p:cNvSpPr/>
          <p:nvPr/>
        </p:nvSpPr>
        <p:spPr>
          <a:xfrm>
            <a:off x="992991" y="7801861"/>
            <a:ext cx="8064246" cy="1658970"/>
          </a:xfrm>
          <a:custGeom>
            <a:rect b="b" l="l" r="r" t="t"/>
            <a:pathLst>
              <a:path extrusionOk="0" h="2211959" w="10752328">
                <a:moveTo>
                  <a:pt x="0" y="0"/>
                </a:moveTo>
                <a:lnTo>
                  <a:pt x="10752328" y="0"/>
                </a:lnTo>
                <a:lnTo>
                  <a:pt x="10752328" y="2211959"/>
                </a:lnTo>
                <a:lnTo>
                  <a:pt x="0" y="2211959"/>
                </a:lnTo>
                <a:lnTo>
                  <a:pt x="0" y="0"/>
                </a:lnTo>
                <a:close/>
              </a:path>
            </a:pathLst>
          </a:custGeom>
          <a:blipFill rotWithShape="1">
            <a:blip r:embed="rId3">
              <a:alphaModFix/>
            </a:blip>
            <a:stretch>
              <a:fillRect b="-275" l="0" r="0" t="-277"/>
            </a:stretch>
          </a:blipFill>
          <a:ln>
            <a:noFill/>
          </a:ln>
        </p:spPr>
      </p:sp>
      <p:sp>
        <p:nvSpPr>
          <p:cNvPr id="379" name="Google Shape;379;p15"/>
          <p:cNvSpPr txBox="1"/>
          <p:nvPr/>
        </p:nvSpPr>
        <p:spPr>
          <a:xfrm>
            <a:off x="1366380" y="7975149"/>
            <a:ext cx="7431843" cy="445875"/>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2251" u="none" cap="none" strike="noStrike">
                <a:solidFill>
                  <a:srgbClr val="272525"/>
                </a:solidFill>
                <a:latin typeface="Inter"/>
                <a:ea typeface="Inter"/>
                <a:cs typeface="Inter"/>
                <a:sym typeface="Inter"/>
              </a:rPr>
              <a:t>Historical Trend Monitoring</a:t>
            </a:r>
            <a:endParaRPr/>
          </a:p>
        </p:txBody>
      </p:sp>
      <p:sp>
        <p:nvSpPr>
          <p:cNvPr id="380" name="Google Shape;380;p15"/>
          <p:cNvSpPr txBox="1"/>
          <p:nvPr/>
        </p:nvSpPr>
        <p:spPr>
          <a:xfrm>
            <a:off x="1366380" y="8390449"/>
            <a:ext cx="7431843" cy="811340"/>
          </a:xfrm>
          <a:prstGeom prst="rect">
            <a:avLst/>
          </a:prstGeom>
          <a:noFill/>
          <a:ln>
            <a:noFill/>
          </a:ln>
        </p:spPr>
        <p:txBody>
          <a:bodyPr anchorCtr="0" anchor="t" bIns="0" lIns="0" spcFirstLastPara="1" rIns="0" wrap="square" tIns="0">
            <a:spAutoFit/>
          </a:bodyPr>
          <a:lstStyle/>
          <a:p>
            <a:pPr indent="0" lvl="0" marL="0" marR="0" rtl="0" algn="l">
              <a:lnSpc>
                <a:spcPct val="174181"/>
              </a:lnSpc>
              <a:spcBef>
                <a:spcPts val="0"/>
              </a:spcBef>
              <a:spcAft>
                <a:spcPts val="0"/>
              </a:spcAft>
              <a:buNone/>
            </a:pPr>
            <a:r>
              <a:rPr b="0" i="0" lang="en-US" sz="1801" u="none" cap="none" strike="noStrike">
                <a:solidFill>
                  <a:srgbClr val="272525"/>
                </a:solidFill>
                <a:latin typeface="Inter"/>
                <a:ea typeface="Inter"/>
                <a:cs typeface="Inter"/>
                <a:sym typeface="Inter"/>
              </a:rPr>
              <a:t>Track seasonal patterns and historical trends to improve workforce planning and resource allocation strategies.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8" name="Shape 388"/>
        <p:cNvGrpSpPr/>
        <p:nvPr/>
      </p:nvGrpSpPr>
      <p:grpSpPr>
        <a:xfrm>
          <a:off x="0" y="0"/>
          <a:ext cx="0" cy="0"/>
          <a:chOff x="0" y="0"/>
          <a:chExt cx="0" cy="0"/>
        </a:xfrm>
      </p:grpSpPr>
      <p:sp>
        <p:nvSpPr>
          <p:cNvPr id="389" name="Google Shape;389;p16"/>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390" name="Google Shape;390;p16"/>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391" name="Google Shape;391;p16"/>
          <p:cNvSpPr txBox="1"/>
          <p:nvPr/>
        </p:nvSpPr>
        <p:spPr>
          <a:xfrm>
            <a:off x="992991" y="722681"/>
            <a:ext cx="16315868" cy="1077163"/>
          </a:xfrm>
          <a:prstGeom prst="rect">
            <a:avLst/>
          </a:prstGeom>
          <a:noFill/>
          <a:ln>
            <a:noFill/>
          </a:ln>
        </p:spPr>
        <p:txBody>
          <a:bodyPr anchorCtr="0" anchor="t" bIns="0" lIns="0" spcFirstLastPara="1" rIns="0" wrap="square" tIns="0">
            <a:spAutoFit/>
          </a:bodyPr>
          <a:lstStyle/>
          <a:p>
            <a:pPr indent="0" lvl="0" marL="0" marR="0" rtl="0" algn="l">
              <a:lnSpc>
                <a:spcPct val="149774"/>
              </a:lnSpc>
              <a:spcBef>
                <a:spcPts val="0"/>
              </a:spcBef>
              <a:spcAft>
                <a:spcPts val="0"/>
              </a:spcAft>
              <a:buNone/>
            </a:pPr>
            <a:r>
              <a:rPr b="1" i="0" lang="en-US" sz="5553" u="none" cap="none" strike="noStrike">
                <a:solidFill>
                  <a:srgbClr val="000000"/>
                </a:solidFill>
                <a:latin typeface="Inter"/>
                <a:ea typeface="Inter"/>
                <a:cs typeface="Inter"/>
                <a:sym typeface="Inter"/>
              </a:rPr>
              <a:t>Dashboard Overview</a:t>
            </a:r>
            <a:endParaRPr/>
          </a:p>
        </p:txBody>
      </p:sp>
      <p:sp>
        <p:nvSpPr>
          <p:cNvPr id="392" name="Google Shape;392;p16"/>
          <p:cNvSpPr txBox="1"/>
          <p:nvPr/>
        </p:nvSpPr>
        <p:spPr>
          <a:xfrm>
            <a:off x="992991" y="2651827"/>
            <a:ext cx="16315868" cy="4999301"/>
          </a:xfrm>
          <a:prstGeom prst="rect">
            <a:avLst/>
          </a:prstGeom>
          <a:noFill/>
          <a:ln>
            <a:noFill/>
          </a:ln>
        </p:spPr>
        <p:txBody>
          <a:bodyPr anchorCtr="0" anchor="t" bIns="0" lIns="0" spcFirstLastPara="1" rIns="0" wrap="square" tIns="0">
            <a:spAutoFit/>
          </a:bodyPr>
          <a:lstStyle/>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KPI Cards: Total Calls (28,027), Total Sales (₹214,065.90), Operational Cost (₹99,146.57), Average Rating (2.93), Repeat Callers (4,737), Average Daily Calls (246.03)</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User Rating Distribution: Pie chart showing customer satisfaction ratings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Daily Call Volume: Line chart tracking call trends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Revenue Generated by Consultation Type: Pie chart showing revenue distribution</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Call Status Distribution: Pie chart showing call outcomes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Guru Rating Distribution: Bar chart showing consultant performance</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Website Distribution: Pie chart showing channel distribution</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Interactive Slicers: Filters for Date, Consultation Types, Gurus, Ratings, and Websites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00" name="Shape 400"/>
        <p:cNvGrpSpPr/>
        <p:nvPr/>
      </p:nvGrpSpPr>
      <p:grpSpPr>
        <a:xfrm>
          <a:off x="0" y="0"/>
          <a:ext cx="0" cy="0"/>
          <a:chOff x="0" y="0"/>
          <a:chExt cx="0" cy="0"/>
        </a:xfrm>
      </p:grpSpPr>
      <p:sp>
        <p:nvSpPr>
          <p:cNvPr id="401" name="Google Shape;401;p17"/>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402" name="Google Shape;402;p17"/>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descr="preencoded.png" id="403" name="Google Shape;403;p17">
            <a:hlinkClick r:id="rId3"/>
          </p:cNvPr>
          <p:cNvSpPr/>
          <p:nvPr/>
        </p:nvSpPr>
        <p:spPr>
          <a:xfrm>
            <a:off x="16628307" y="9846183"/>
            <a:ext cx="1609058" cy="384334"/>
          </a:xfrm>
          <a:custGeom>
            <a:rect b="b" l="l" r="r" t="t"/>
            <a:pathLst>
              <a:path extrusionOk="0" h="512445" w="2145411">
                <a:moveTo>
                  <a:pt x="0" y="0"/>
                </a:moveTo>
                <a:lnTo>
                  <a:pt x="2145411" y="0"/>
                </a:lnTo>
                <a:lnTo>
                  <a:pt x="2145411" y="512445"/>
                </a:lnTo>
                <a:lnTo>
                  <a:pt x="0" y="512445"/>
                </a:lnTo>
                <a:lnTo>
                  <a:pt x="0" y="0"/>
                </a:lnTo>
                <a:close/>
              </a:path>
            </a:pathLst>
          </a:custGeom>
          <a:blipFill rotWithShape="1">
            <a:blip r:embed="rId4">
              <a:alphaModFix/>
            </a:blip>
            <a:stretch>
              <a:fillRect b="0" l="-123" r="-123" t="0"/>
            </a:stretch>
          </a:blipFill>
          <a:ln>
            <a:noFill/>
          </a:ln>
        </p:spPr>
      </p:sp>
      <p:pic>
        <p:nvPicPr>
          <p:cNvPr id="404" name="Google Shape;404;p17"/>
          <p:cNvPicPr preferRelativeResize="0"/>
          <p:nvPr/>
        </p:nvPicPr>
        <p:blipFill>
          <a:blip r:embed="rId5">
            <a:alphaModFix/>
          </a:blip>
          <a:stretch>
            <a:fillRect/>
          </a:stretch>
        </p:blipFill>
        <p:spPr>
          <a:xfrm>
            <a:off x="45200" y="0"/>
            <a:ext cx="18176526" cy="10375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2" name="Shape 412"/>
        <p:cNvGrpSpPr/>
        <p:nvPr/>
      </p:nvGrpSpPr>
      <p:grpSpPr>
        <a:xfrm>
          <a:off x="0" y="0"/>
          <a:ext cx="0" cy="0"/>
          <a:chOff x="0" y="0"/>
          <a:chExt cx="0" cy="0"/>
        </a:xfrm>
      </p:grpSpPr>
      <p:sp>
        <p:nvSpPr>
          <p:cNvPr id="413" name="Google Shape;413;p18"/>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414" name="Google Shape;414;p18"/>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415" name="Google Shape;415;p18"/>
          <p:cNvSpPr txBox="1"/>
          <p:nvPr/>
        </p:nvSpPr>
        <p:spPr>
          <a:xfrm>
            <a:off x="992991" y="641633"/>
            <a:ext cx="16315868" cy="979332"/>
          </a:xfrm>
          <a:prstGeom prst="rect">
            <a:avLst/>
          </a:prstGeom>
          <a:noFill/>
          <a:ln>
            <a:noFill/>
          </a:ln>
        </p:spPr>
        <p:txBody>
          <a:bodyPr anchorCtr="0" anchor="t" bIns="0" lIns="0" spcFirstLastPara="1" rIns="0" wrap="square" tIns="0">
            <a:spAutoFit/>
          </a:bodyPr>
          <a:lstStyle/>
          <a:p>
            <a:pPr indent="0" lvl="0" marL="0" marR="0" rtl="0" algn="l">
              <a:lnSpc>
                <a:spcPct val="149784"/>
              </a:lnSpc>
              <a:spcBef>
                <a:spcPts val="0"/>
              </a:spcBef>
              <a:spcAft>
                <a:spcPts val="0"/>
              </a:spcAft>
              <a:buNone/>
            </a:pPr>
            <a:r>
              <a:rPr b="1" i="0" lang="en-US" sz="5102" u="none" cap="none" strike="noStrike">
                <a:solidFill>
                  <a:srgbClr val="000000"/>
                </a:solidFill>
                <a:latin typeface="Inter"/>
                <a:ea typeface="Inter"/>
                <a:cs typeface="Inter"/>
                <a:sym typeface="Inter"/>
              </a:rPr>
              <a:t>Key Strategic Recommendations</a:t>
            </a:r>
            <a:endParaRPr/>
          </a:p>
        </p:txBody>
      </p:sp>
      <p:sp>
        <p:nvSpPr>
          <p:cNvPr id="416" name="Google Shape;416;p18"/>
          <p:cNvSpPr txBox="1"/>
          <p:nvPr/>
        </p:nvSpPr>
        <p:spPr>
          <a:xfrm>
            <a:off x="992991" y="1893694"/>
            <a:ext cx="16315868" cy="1013555"/>
          </a:xfrm>
          <a:prstGeom prst="rect">
            <a:avLst/>
          </a:prstGeom>
          <a:noFill/>
          <a:ln>
            <a:noFill/>
          </a:ln>
        </p:spPr>
        <p:txBody>
          <a:bodyPr anchorCtr="0" anchor="t" bIns="0" lIns="0" spcFirstLastPara="1" rIns="0" wrap="square" tIns="0">
            <a:spAutoFit/>
          </a:bodyPr>
          <a:lstStyle/>
          <a:p>
            <a:pPr indent="0" lvl="0" marL="0" marR="0" rtl="0" algn="l">
              <a:lnSpc>
                <a:spcPct val="184304"/>
              </a:lnSpc>
              <a:spcBef>
                <a:spcPts val="0"/>
              </a:spcBef>
              <a:spcAft>
                <a:spcPts val="0"/>
              </a:spcAft>
              <a:buNone/>
            </a:pPr>
            <a:r>
              <a:rPr b="0" i="0" lang="en-US" sz="2026" u="none" cap="none" strike="noStrike">
                <a:solidFill>
                  <a:srgbClr val="272525"/>
                </a:solidFill>
                <a:latin typeface="Inter"/>
                <a:ea typeface="Inter"/>
                <a:cs typeface="Inter"/>
                <a:sym typeface="Inter"/>
              </a:rPr>
              <a:t>To enhance operational efficiency, elevate customer satisfaction, and drive overall business growth, we recommend focusing on these strategic areas:</a:t>
            </a:r>
            <a:endParaRPr/>
          </a:p>
        </p:txBody>
      </p:sp>
      <p:sp>
        <p:nvSpPr>
          <p:cNvPr descr="preencoded.png" id="417" name="Google Shape;417;p18"/>
          <p:cNvSpPr/>
          <p:nvPr/>
        </p:nvSpPr>
        <p:spPr>
          <a:xfrm>
            <a:off x="992991" y="3178473"/>
            <a:ext cx="653891" cy="653892"/>
          </a:xfrm>
          <a:custGeom>
            <a:rect b="b" l="l" r="r" t="t"/>
            <a:pathLst>
              <a:path extrusionOk="0" h="871855" w="871855">
                <a:moveTo>
                  <a:pt x="0" y="0"/>
                </a:moveTo>
                <a:lnTo>
                  <a:pt x="871855" y="0"/>
                </a:lnTo>
                <a:lnTo>
                  <a:pt x="871855" y="871855"/>
                </a:lnTo>
                <a:lnTo>
                  <a:pt x="0" y="871855"/>
                </a:lnTo>
                <a:lnTo>
                  <a:pt x="0" y="0"/>
                </a:lnTo>
                <a:close/>
              </a:path>
            </a:pathLst>
          </a:custGeom>
          <a:blipFill rotWithShape="1">
            <a:blip r:embed="rId3">
              <a:alphaModFix/>
            </a:blip>
            <a:stretch>
              <a:fillRect b="4" l="0" r="5" t="0"/>
            </a:stretch>
          </a:blipFill>
          <a:ln>
            <a:noFill/>
          </a:ln>
        </p:spPr>
      </p:sp>
      <p:sp>
        <p:nvSpPr>
          <p:cNvPr id="418" name="Google Shape;418;p18"/>
          <p:cNvSpPr txBox="1"/>
          <p:nvPr/>
        </p:nvSpPr>
        <p:spPr>
          <a:xfrm>
            <a:off x="992991" y="4047934"/>
            <a:ext cx="8007201" cy="494281"/>
          </a:xfrm>
          <a:prstGeom prst="rect">
            <a:avLst/>
          </a:prstGeom>
          <a:noFill/>
          <a:ln>
            <a:noFill/>
          </a:ln>
        </p:spPr>
        <p:txBody>
          <a:bodyPr anchorCtr="0" anchor="t" bIns="0" lIns="0" spcFirstLastPara="1" rIns="0" wrap="square" tIns="0">
            <a:spAutoFit/>
          </a:bodyPr>
          <a:lstStyle/>
          <a:p>
            <a:pPr indent="0" lvl="0" marL="0" marR="0" rtl="0" algn="l">
              <a:lnSpc>
                <a:spcPct val="149745"/>
              </a:lnSpc>
              <a:spcBef>
                <a:spcPts val="0"/>
              </a:spcBef>
              <a:spcAft>
                <a:spcPts val="0"/>
              </a:spcAft>
              <a:buNone/>
            </a:pPr>
            <a:r>
              <a:rPr b="1" i="0" lang="en-US" sz="2551" u="none" cap="none" strike="noStrike">
                <a:solidFill>
                  <a:srgbClr val="272525"/>
                </a:solidFill>
                <a:latin typeface="Inter"/>
                <a:ea typeface="Inter"/>
                <a:cs typeface="Inter"/>
                <a:sym typeface="Inter"/>
              </a:rPr>
              <a:t>Staffing Optimization</a:t>
            </a:r>
            <a:endParaRPr/>
          </a:p>
        </p:txBody>
      </p:sp>
      <p:sp>
        <p:nvSpPr>
          <p:cNvPr id="419" name="Google Shape;419;p18"/>
          <p:cNvSpPr txBox="1"/>
          <p:nvPr/>
        </p:nvSpPr>
        <p:spPr>
          <a:xfrm>
            <a:off x="992991" y="4477283"/>
            <a:ext cx="8007201" cy="1817551"/>
          </a:xfrm>
          <a:prstGeom prst="rect">
            <a:avLst/>
          </a:prstGeom>
          <a:noFill/>
          <a:ln>
            <a:noFill/>
          </a:ln>
        </p:spPr>
        <p:txBody>
          <a:bodyPr anchorCtr="0" anchor="t" bIns="0" lIns="0" spcFirstLastPara="1" rIns="0" wrap="square" tIns="0">
            <a:spAutoFit/>
          </a:bodyPr>
          <a:lstStyle/>
          <a:p>
            <a:pPr indent="0" lvl="0" marL="0" marR="0" rtl="0" algn="l">
              <a:lnSpc>
                <a:spcPct val="184304"/>
              </a:lnSpc>
              <a:spcBef>
                <a:spcPts val="0"/>
              </a:spcBef>
              <a:spcAft>
                <a:spcPts val="0"/>
              </a:spcAft>
              <a:buNone/>
            </a:pPr>
            <a:r>
              <a:rPr b="0" i="0" lang="en-US" sz="2026" u="none" cap="none" strike="noStrike">
                <a:solidFill>
                  <a:srgbClr val="272525"/>
                </a:solidFill>
                <a:latin typeface="Inter"/>
                <a:ea typeface="Inter"/>
                <a:cs typeface="Inter"/>
                <a:sym typeface="Inter"/>
              </a:rPr>
              <a:t>Implement dynamic workforce management to balance guru workloads and ensure optimal coverage during peak demand periods (6 AM - 4 PM) through real-time scheduling and forecasting.</a:t>
            </a:r>
            <a:endParaRPr/>
          </a:p>
        </p:txBody>
      </p:sp>
      <p:sp>
        <p:nvSpPr>
          <p:cNvPr descr="preencoded.png" id="420" name="Google Shape;420;p18"/>
          <p:cNvSpPr/>
          <p:nvPr/>
        </p:nvSpPr>
        <p:spPr>
          <a:xfrm>
            <a:off x="9301496" y="3178473"/>
            <a:ext cx="653891" cy="653892"/>
          </a:xfrm>
          <a:custGeom>
            <a:rect b="b" l="l" r="r" t="t"/>
            <a:pathLst>
              <a:path extrusionOk="0" h="871855" w="871855">
                <a:moveTo>
                  <a:pt x="0" y="0"/>
                </a:moveTo>
                <a:lnTo>
                  <a:pt x="871855" y="0"/>
                </a:lnTo>
                <a:lnTo>
                  <a:pt x="871855" y="871855"/>
                </a:lnTo>
                <a:lnTo>
                  <a:pt x="0" y="871855"/>
                </a:lnTo>
                <a:lnTo>
                  <a:pt x="0" y="0"/>
                </a:lnTo>
                <a:close/>
              </a:path>
            </a:pathLst>
          </a:custGeom>
          <a:blipFill rotWithShape="1">
            <a:blip r:embed="rId4">
              <a:alphaModFix/>
            </a:blip>
            <a:stretch>
              <a:fillRect b="4" l="0" r="5" t="0"/>
            </a:stretch>
          </a:blipFill>
          <a:ln>
            <a:noFill/>
          </a:ln>
        </p:spPr>
      </p:sp>
      <p:sp>
        <p:nvSpPr>
          <p:cNvPr id="421" name="Google Shape;421;p18"/>
          <p:cNvSpPr txBox="1"/>
          <p:nvPr/>
        </p:nvSpPr>
        <p:spPr>
          <a:xfrm>
            <a:off x="9301496" y="4047934"/>
            <a:ext cx="8007353" cy="494281"/>
          </a:xfrm>
          <a:prstGeom prst="rect">
            <a:avLst/>
          </a:prstGeom>
          <a:noFill/>
          <a:ln>
            <a:noFill/>
          </a:ln>
        </p:spPr>
        <p:txBody>
          <a:bodyPr anchorCtr="0" anchor="t" bIns="0" lIns="0" spcFirstLastPara="1" rIns="0" wrap="square" tIns="0">
            <a:spAutoFit/>
          </a:bodyPr>
          <a:lstStyle/>
          <a:p>
            <a:pPr indent="0" lvl="0" marL="0" marR="0" rtl="0" algn="l">
              <a:lnSpc>
                <a:spcPct val="149745"/>
              </a:lnSpc>
              <a:spcBef>
                <a:spcPts val="0"/>
              </a:spcBef>
              <a:spcAft>
                <a:spcPts val="0"/>
              </a:spcAft>
              <a:buNone/>
            </a:pPr>
            <a:r>
              <a:rPr b="1" i="0" lang="en-US" sz="2551" u="none" cap="none" strike="noStrike">
                <a:solidFill>
                  <a:srgbClr val="272525"/>
                </a:solidFill>
                <a:latin typeface="Inter"/>
                <a:ea typeface="Inter"/>
                <a:cs typeface="Inter"/>
                <a:sym typeface="Inter"/>
              </a:rPr>
              <a:t>Customer Satisfaction</a:t>
            </a:r>
            <a:endParaRPr/>
          </a:p>
        </p:txBody>
      </p:sp>
      <p:sp>
        <p:nvSpPr>
          <p:cNvPr id="422" name="Google Shape;422;p18"/>
          <p:cNvSpPr txBox="1"/>
          <p:nvPr/>
        </p:nvSpPr>
        <p:spPr>
          <a:xfrm>
            <a:off x="9301496" y="4477283"/>
            <a:ext cx="8007353" cy="1415558"/>
          </a:xfrm>
          <a:prstGeom prst="rect">
            <a:avLst/>
          </a:prstGeom>
          <a:noFill/>
          <a:ln>
            <a:noFill/>
          </a:ln>
        </p:spPr>
        <p:txBody>
          <a:bodyPr anchorCtr="0" anchor="t" bIns="0" lIns="0" spcFirstLastPara="1" rIns="0" wrap="square" tIns="0">
            <a:spAutoFit/>
          </a:bodyPr>
          <a:lstStyle/>
          <a:p>
            <a:pPr indent="0" lvl="0" marL="0" marR="0" rtl="0" algn="l">
              <a:lnSpc>
                <a:spcPct val="184304"/>
              </a:lnSpc>
              <a:spcBef>
                <a:spcPts val="0"/>
              </a:spcBef>
              <a:spcAft>
                <a:spcPts val="0"/>
              </a:spcAft>
              <a:buNone/>
            </a:pPr>
            <a:r>
              <a:rPr b="0" i="0" lang="en-US" sz="2026" u="none" cap="none" strike="noStrike">
                <a:solidFill>
                  <a:srgbClr val="272525"/>
                </a:solidFill>
                <a:latin typeface="Inter"/>
                <a:ea typeface="Inter"/>
                <a:cs typeface="Inter"/>
                <a:sym typeface="Inter"/>
              </a:rPr>
              <a:t>Prioritize investigation of low-rated interactions and deploy targeted training. Use real-time feedback and sentiment analytics to continuously monitor and improve service quality.</a:t>
            </a:r>
            <a:endParaRPr/>
          </a:p>
        </p:txBody>
      </p:sp>
      <p:sp>
        <p:nvSpPr>
          <p:cNvPr descr="preencoded.png" id="423" name="Google Shape;423;p18"/>
          <p:cNvSpPr/>
          <p:nvPr/>
        </p:nvSpPr>
        <p:spPr>
          <a:xfrm>
            <a:off x="992991" y="6777123"/>
            <a:ext cx="653891" cy="653892"/>
          </a:xfrm>
          <a:custGeom>
            <a:rect b="b" l="l" r="r" t="t"/>
            <a:pathLst>
              <a:path extrusionOk="0" h="871855" w="871855">
                <a:moveTo>
                  <a:pt x="0" y="0"/>
                </a:moveTo>
                <a:lnTo>
                  <a:pt x="871855" y="0"/>
                </a:lnTo>
                <a:lnTo>
                  <a:pt x="871855" y="871855"/>
                </a:lnTo>
                <a:lnTo>
                  <a:pt x="0" y="871855"/>
                </a:lnTo>
                <a:lnTo>
                  <a:pt x="0" y="0"/>
                </a:lnTo>
                <a:close/>
              </a:path>
            </a:pathLst>
          </a:custGeom>
          <a:blipFill rotWithShape="1">
            <a:blip r:embed="rId5">
              <a:alphaModFix/>
            </a:blip>
            <a:stretch>
              <a:fillRect b="4" l="0" r="5" t="0"/>
            </a:stretch>
          </a:blipFill>
          <a:ln>
            <a:noFill/>
          </a:ln>
        </p:spPr>
      </p:sp>
      <p:sp>
        <p:nvSpPr>
          <p:cNvPr id="424" name="Google Shape;424;p18"/>
          <p:cNvSpPr txBox="1"/>
          <p:nvPr/>
        </p:nvSpPr>
        <p:spPr>
          <a:xfrm>
            <a:off x="992991" y="7646575"/>
            <a:ext cx="8007201" cy="494281"/>
          </a:xfrm>
          <a:prstGeom prst="rect">
            <a:avLst/>
          </a:prstGeom>
          <a:noFill/>
          <a:ln>
            <a:noFill/>
          </a:ln>
        </p:spPr>
        <p:txBody>
          <a:bodyPr anchorCtr="0" anchor="t" bIns="0" lIns="0" spcFirstLastPara="1" rIns="0" wrap="square" tIns="0">
            <a:spAutoFit/>
          </a:bodyPr>
          <a:lstStyle/>
          <a:p>
            <a:pPr indent="0" lvl="0" marL="0" marR="0" rtl="0" algn="l">
              <a:lnSpc>
                <a:spcPct val="149745"/>
              </a:lnSpc>
              <a:spcBef>
                <a:spcPts val="0"/>
              </a:spcBef>
              <a:spcAft>
                <a:spcPts val="0"/>
              </a:spcAft>
              <a:buNone/>
            </a:pPr>
            <a:r>
              <a:rPr b="1" i="0" lang="en-US" sz="2551" u="none" cap="none" strike="noStrike">
                <a:solidFill>
                  <a:srgbClr val="272525"/>
                </a:solidFill>
                <a:latin typeface="Inter"/>
                <a:ea typeface="Inter"/>
                <a:cs typeface="Inter"/>
                <a:sym typeface="Inter"/>
              </a:rPr>
              <a:t>Technology Investment</a:t>
            </a:r>
            <a:endParaRPr/>
          </a:p>
        </p:txBody>
      </p:sp>
      <p:sp>
        <p:nvSpPr>
          <p:cNvPr id="425" name="Google Shape;425;p18"/>
          <p:cNvSpPr txBox="1"/>
          <p:nvPr/>
        </p:nvSpPr>
        <p:spPr>
          <a:xfrm>
            <a:off x="992991" y="8075933"/>
            <a:ext cx="8007201" cy="1415558"/>
          </a:xfrm>
          <a:prstGeom prst="rect">
            <a:avLst/>
          </a:prstGeom>
          <a:noFill/>
          <a:ln>
            <a:noFill/>
          </a:ln>
        </p:spPr>
        <p:txBody>
          <a:bodyPr anchorCtr="0" anchor="t" bIns="0" lIns="0" spcFirstLastPara="1" rIns="0" wrap="square" tIns="0">
            <a:spAutoFit/>
          </a:bodyPr>
          <a:lstStyle/>
          <a:p>
            <a:pPr indent="0" lvl="0" marL="0" marR="0" rtl="0" algn="l">
              <a:lnSpc>
                <a:spcPct val="184304"/>
              </a:lnSpc>
              <a:spcBef>
                <a:spcPts val="0"/>
              </a:spcBef>
              <a:spcAft>
                <a:spcPts val="0"/>
              </a:spcAft>
              <a:buNone/>
            </a:pPr>
            <a:r>
              <a:rPr b="0" i="0" lang="en-US" sz="2026" u="none" cap="none" strike="noStrike">
                <a:solidFill>
                  <a:srgbClr val="272525"/>
                </a:solidFill>
                <a:latin typeface="Inter"/>
                <a:ea typeface="Inter"/>
                <a:cs typeface="Inter"/>
                <a:sym typeface="Inter"/>
              </a:rPr>
              <a:t>Leverage AI chatbots for initial customer triage and FAQs, integrate CRM for personalized service, and utilize speech analytics for quality assurance and training needs identification.</a:t>
            </a:r>
            <a:endParaRPr/>
          </a:p>
        </p:txBody>
      </p:sp>
      <p:sp>
        <p:nvSpPr>
          <p:cNvPr descr="preencoded.png" id="426" name="Google Shape;426;p18"/>
          <p:cNvSpPr/>
          <p:nvPr/>
        </p:nvSpPr>
        <p:spPr>
          <a:xfrm>
            <a:off x="9301496" y="6777123"/>
            <a:ext cx="653891" cy="653892"/>
          </a:xfrm>
          <a:custGeom>
            <a:rect b="b" l="l" r="r" t="t"/>
            <a:pathLst>
              <a:path extrusionOk="0" h="871855" w="871855">
                <a:moveTo>
                  <a:pt x="0" y="0"/>
                </a:moveTo>
                <a:lnTo>
                  <a:pt x="871855" y="0"/>
                </a:lnTo>
                <a:lnTo>
                  <a:pt x="871855" y="871855"/>
                </a:lnTo>
                <a:lnTo>
                  <a:pt x="0" y="871855"/>
                </a:lnTo>
                <a:lnTo>
                  <a:pt x="0" y="0"/>
                </a:lnTo>
                <a:close/>
              </a:path>
            </a:pathLst>
          </a:custGeom>
          <a:blipFill rotWithShape="1">
            <a:blip r:embed="rId6">
              <a:alphaModFix/>
            </a:blip>
            <a:stretch>
              <a:fillRect b="4" l="0" r="5" t="0"/>
            </a:stretch>
          </a:blipFill>
          <a:ln>
            <a:noFill/>
          </a:ln>
        </p:spPr>
      </p:sp>
      <p:sp>
        <p:nvSpPr>
          <p:cNvPr id="427" name="Google Shape;427;p18"/>
          <p:cNvSpPr txBox="1"/>
          <p:nvPr/>
        </p:nvSpPr>
        <p:spPr>
          <a:xfrm>
            <a:off x="9301496" y="7646575"/>
            <a:ext cx="8007353" cy="494281"/>
          </a:xfrm>
          <a:prstGeom prst="rect">
            <a:avLst/>
          </a:prstGeom>
          <a:noFill/>
          <a:ln>
            <a:noFill/>
          </a:ln>
        </p:spPr>
        <p:txBody>
          <a:bodyPr anchorCtr="0" anchor="t" bIns="0" lIns="0" spcFirstLastPara="1" rIns="0" wrap="square" tIns="0">
            <a:spAutoFit/>
          </a:bodyPr>
          <a:lstStyle/>
          <a:p>
            <a:pPr indent="0" lvl="0" marL="0" marR="0" rtl="0" algn="l">
              <a:lnSpc>
                <a:spcPct val="149745"/>
              </a:lnSpc>
              <a:spcBef>
                <a:spcPts val="0"/>
              </a:spcBef>
              <a:spcAft>
                <a:spcPts val="0"/>
              </a:spcAft>
              <a:buNone/>
            </a:pPr>
            <a:r>
              <a:rPr b="1" i="0" lang="en-US" sz="2551" u="none" cap="none" strike="noStrike">
                <a:solidFill>
                  <a:srgbClr val="272525"/>
                </a:solidFill>
                <a:latin typeface="Inter"/>
                <a:ea typeface="Inter"/>
                <a:cs typeface="Inter"/>
                <a:sym typeface="Inter"/>
              </a:rPr>
              <a:t>Performance Management</a:t>
            </a:r>
            <a:endParaRPr/>
          </a:p>
        </p:txBody>
      </p:sp>
      <p:sp>
        <p:nvSpPr>
          <p:cNvPr id="428" name="Google Shape;428;p18"/>
          <p:cNvSpPr txBox="1"/>
          <p:nvPr/>
        </p:nvSpPr>
        <p:spPr>
          <a:xfrm>
            <a:off x="9301496" y="8075933"/>
            <a:ext cx="8007353" cy="1415558"/>
          </a:xfrm>
          <a:prstGeom prst="rect">
            <a:avLst/>
          </a:prstGeom>
          <a:noFill/>
          <a:ln>
            <a:noFill/>
          </a:ln>
        </p:spPr>
        <p:txBody>
          <a:bodyPr anchorCtr="0" anchor="t" bIns="0" lIns="0" spcFirstLastPara="1" rIns="0" wrap="square" tIns="0">
            <a:spAutoFit/>
          </a:bodyPr>
          <a:lstStyle/>
          <a:p>
            <a:pPr indent="0" lvl="0" marL="0" marR="0" rtl="0" algn="l">
              <a:lnSpc>
                <a:spcPct val="184304"/>
              </a:lnSpc>
              <a:spcBef>
                <a:spcPts val="0"/>
              </a:spcBef>
              <a:spcAft>
                <a:spcPts val="0"/>
              </a:spcAft>
              <a:buNone/>
            </a:pPr>
            <a:r>
              <a:rPr b="0" i="0" lang="en-US" sz="2026" u="none" cap="none" strike="noStrike">
                <a:solidFill>
                  <a:srgbClr val="272525"/>
                </a:solidFill>
                <a:latin typeface="Inter"/>
                <a:ea typeface="Inter"/>
                <a:cs typeface="Inter"/>
                <a:sym typeface="Inter"/>
              </a:rPr>
              <a:t>Regularly monitor guru-level metrics, establish recognition programs, and provide performance incentives to motivate consultants and reduce gaps across the team.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6" name="Shape 436"/>
        <p:cNvGrpSpPr/>
        <p:nvPr/>
      </p:nvGrpSpPr>
      <p:grpSpPr>
        <a:xfrm>
          <a:off x="0" y="0"/>
          <a:ext cx="0" cy="0"/>
          <a:chOff x="0" y="0"/>
          <a:chExt cx="0" cy="0"/>
        </a:xfrm>
      </p:grpSpPr>
      <p:sp>
        <p:nvSpPr>
          <p:cNvPr id="437" name="Google Shape;437;p19"/>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438" name="Google Shape;438;p19"/>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439" name="Google Shape;439;p19"/>
          <p:cNvSpPr txBox="1"/>
          <p:nvPr/>
        </p:nvSpPr>
        <p:spPr>
          <a:xfrm>
            <a:off x="1028700" y="1792855"/>
            <a:ext cx="16315868" cy="911966"/>
          </a:xfrm>
          <a:prstGeom prst="rect">
            <a:avLst/>
          </a:prstGeom>
          <a:noFill/>
          <a:ln>
            <a:noFill/>
          </a:ln>
        </p:spPr>
        <p:txBody>
          <a:bodyPr anchorCtr="0" anchor="t" bIns="0" lIns="0" spcFirstLastPara="1" rIns="0" wrap="square" tIns="0">
            <a:spAutoFit/>
          </a:bodyPr>
          <a:lstStyle/>
          <a:p>
            <a:pPr indent="0" lvl="0" marL="0" marR="0" rtl="0" algn="l">
              <a:lnSpc>
                <a:spcPct val="149755"/>
              </a:lnSpc>
              <a:spcBef>
                <a:spcPts val="0"/>
              </a:spcBef>
              <a:spcAft>
                <a:spcPts val="0"/>
              </a:spcAft>
              <a:buNone/>
            </a:pPr>
            <a:r>
              <a:rPr b="1" i="0" lang="en-US" sz="5103" u="none" cap="none" strike="noStrike">
                <a:solidFill>
                  <a:srgbClr val="000000"/>
                </a:solidFill>
                <a:latin typeface="Inter"/>
                <a:ea typeface="Inter"/>
                <a:cs typeface="Inter"/>
                <a:sym typeface="Inter"/>
              </a:rPr>
              <a:t>Dashboard Capabilities</a:t>
            </a:r>
            <a:endParaRPr/>
          </a:p>
        </p:txBody>
      </p:sp>
      <p:sp>
        <p:nvSpPr>
          <p:cNvPr id="440" name="Google Shape;440;p19"/>
          <p:cNvSpPr txBox="1"/>
          <p:nvPr/>
        </p:nvSpPr>
        <p:spPr>
          <a:xfrm>
            <a:off x="943432" y="3079994"/>
            <a:ext cx="16315868" cy="3992137"/>
          </a:xfrm>
          <a:prstGeom prst="rect">
            <a:avLst/>
          </a:prstGeom>
          <a:noFill/>
          <a:ln>
            <a:noFill/>
          </a:ln>
        </p:spPr>
        <p:txBody>
          <a:bodyPr anchorCtr="0" anchor="t" bIns="0" lIns="0" spcFirstLastPara="1" rIns="0" wrap="square" tIns="0">
            <a:spAutoFit/>
          </a:bodyPr>
          <a:lstStyle/>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Real-time KPI monitoring for operational performance tracking</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Multi-dimensional drill-down analysis across time periods, consultants, and channels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Customer satisfaction trend monitoring and analysis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Revenue performance tracking by consultation type</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Workforce performance evaluation and benchmarking</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Interactive filtering for dynamic data exploration</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Comprehensive reporting for strategic decision-making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8" name="Shape 448"/>
        <p:cNvGrpSpPr/>
        <p:nvPr/>
      </p:nvGrpSpPr>
      <p:grpSpPr>
        <a:xfrm>
          <a:off x="0" y="0"/>
          <a:ext cx="0" cy="0"/>
          <a:chOff x="0" y="0"/>
          <a:chExt cx="0" cy="0"/>
        </a:xfrm>
      </p:grpSpPr>
      <p:sp>
        <p:nvSpPr>
          <p:cNvPr id="449" name="Google Shape;449;p20"/>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450" name="Google Shape;450;p20"/>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451" name="Google Shape;451;p20"/>
          <p:cNvSpPr txBox="1"/>
          <p:nvPr/>
        </p:nvSpPr>
        <p:spPr>
          <a:xfrm>
            <a:off x="992991" y="1889360"/>
            <a:ext cx="16315868" cy="1077163"/>
          </a:xfrm>
          <a:prstGeom prst="rect">
            <a:avLst/>
          </a:prstGeom>
          <a:noFill/>
          <a:ln>
            <a:noFill/>
          </a:ln>
        </p:spPr>
        <p:txBody>
          <a:bodyPr anchorCtr="0" anchor="t" bIns="0" lIns="0" spcFirstLastPara="1" rIns="0" wrap="square" tIns="0">
            <a:spAutoFit/>
          </a:bodyPr>
          <a:lstStyle/>
          <a:p>
            <a:pPr indent="0" lvl="0" marL="0" marR="0" rtl="0" algn="l">
              <a:lnSpc>
                <a:spcPct val="149774"/>
              </a:lnSpc>
              <a:spcBef>
                <a:spcPts val="0"/>
              </a:spcBef>
              <a:spcAft>
                <a:spcPts val="0"/>
              </a:spcAft>
              <a:buNone/>
            </a:pPr>
            <a:r>
              <a:rPr b="1" i="0" lang="en-US" sz="5553" u="none" cap="none" strike="noStrike">
                <a:solidFill>
                  <a:srgbClr val="000000"/>
                </a:solidFill>
                <a:latin typeface="Inter"/>
                <a:ea typeface="Inter"/>
                <a:cs typeface="Inter"/>
                <a:sym typeface="Inter"/>
              </a:rPr>
              <a:t>Key Insights</a:t>
            </a:r>
            <a:endParaRPr/>
          </a:p>
        </p:txBody>
      </p:sp>
      <p:sp>
        <p:nvSpPr>
          <p:cNvPr id="452" name="Google Shape;452;p20"/>
          <p:cNvSpPr txBox="1"/>
          <p:nvPr/>
        </p:nvSpPr>
        <p:spPr>
          <a:xfrm>
            <a:off x="992991" y="3314929"/>
            <a:ext cx="16315868" cy="4900098"/>
          </a:xfrm>
          <a:prstGeom prst="rect">
            <a:avLst/>
          </a:prstGeom>
          <a:noFill/>
          <a:ln>
            <a:noFill/>
          </a:ln>
        </p:spPr>
        <p:txBody>
          <a:bodyPr anchorCtr="0" anchor="t" bIns="0" lIns="0" spcFirstLastPara="1" rIns="0" wrap="square" tIns="0">
            <a:spAutoFit/>
          </a:bodyPr>
          <a:lstStyle/>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Total Calls: 28,027 interactions across all consultation categories demonstrate significant operational volume</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Revenue Performance: Total sales of ₹214,065.90 with operational costs of ₹99,146.57 indicate healthy profit margins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Customer Satisfaction: Average rating of 2.93 suggests room for service quality improvements and training opportunities</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Peak Hours: Daily call volume shows concentration during business hours (6 AM - 4 PM), requiring strategic staffing allocation</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Consultation Mix: Revenue distribution across call and chat channels shows balanced channel utilization</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Repeat Business: 4,737 repeat callers indicate customer retention and loyalty</a:t>
            </a:r>
            <a:endParaRPr/>
          </a:p>
          <a:p>
            <a:pPr indent="-153217" lvl="2" marL="459652" marR="0" rtl="0" algn="l">
              <a:lnSpc>
                <a:spcPct val="191544"/>
              </a:lnSpc>
              <a:spcBef>
                <a:spcPts val="0"/>
              </a:spcBef>
              <a:spcAft>
                <a:spcPts val="0"/>
              </a:spcAft>
              <a:buClr>
                <a:srgbClr val="272525"/>
              </a:buClr>
              <a:buSzPts val="2176"/>
              <a:buFont typeface="Arial"/>
              <a:buChar char="⚬"/>
            </a:pPr>
            <a:r>
              <a:rPr b="0" i="0" lang="en-US" sz="2176" u="none" cap="none" strike="noStrike">
                <a:solidFill>
                  <a:srgbClr val="272525"/>
                </a:solidFill>
                <a:latin typeface="Inter"/>
                <a:ea typeface="Inter"/>
                <a:cs typeface="Inter"/>
                <a:sym typeface="Inter"/>
              </a:rPr>
              <a:t>Performance Variation: Guru rating distribution shows performance gaps requiring targeted coaching and support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0" name="Shape 460"/>
        <p:cNvGrpSpPr/>
        <p:nvPr/>
      </p:nvGrpSpPr>
      <p:grpSpPr>
        <a:xfrm>
          <a:off x="0" y="0"/>
          <a:ext cx="0" cy="0"/>
          <a:chOff x="0" y="0"/>
          <a:chExt cx="0" cy="0"/>
        </a:xfrm>
      </p:grpSpPr>
      <p:sp>
        <p:nvSpPr>
          <p:cNvPr id="461" name="Google Shape;461;p2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6F4F4"/>
          </a:solidFill>
          <a:ln>
            <a:noFill/>
          </a:ln>
        </p:spPr>
      </p:sp>
      <p:sp>
        <p:nvSpPr>
          <p:cNvPr id="462" name="Google Shape;462;p21"/>
          <p:cNvSpPr/>
          <p:nvPr/>
        </p:nvSpPr>
        <p:spPr>
          <a:xfrm>
            <a:off x="0" y="0"/>
            <a:ext cx="18301810" cy="10295001"/>
          </a:xfrm>
          <a:custGeom>
            <a:rect b="b" l="l" r="r" t="t"/>
            <a:pathLst>
              <a:path extrusionOk="0" h="13726668" w="24402414">
                <a:moveTo>
                  <a:pt x="0" y="0"/>
                </a:moveTo>
                <a:lnTo>
                  <a:pt x="24402414" y="0"/>
                </a:lnTo>
                <a:lnTo>
                  <a:pt x="24402414" y="13726668"/>
                </a:lnTo>
                <a:lnTo>
                  <a:pt x="0" y="13726668"/>
                </a:lnTo>
                <a:close/>
              </a:path>
            </a:pathLst>
          </a:custGeom>
          <a:solidFill>
            <a:srgbClr val="FFFFFF"/>
          </a:solidFill>
          <a:ln>
            <a:noFill/>
          </a:ln>
        </p:spPr>
      </p:sp>
      <p:sp>
        <p:nvSpPr>
          <p:cNvPr id="463" name="Google Shape;463;p21"/>
          <p:cNvSpPr txBox="1"/>
          <p:nvPr/>
        </p:nvSpPr>
        <p:spPr>
          <a:xfrm>
            <a:off x="992991" y="728901"/>
            <a:ext cx="16315868" cy="835619"/>
          </a:xfrm>
          <a:prstGeom prst="rect">
            <a:avLst/>
          </a:prstGeom>
          <a:noFill/>
          <a:ln>
            <a:noFill/>
          </a:ln>
        </p:spPr>
        <p:txBody>
          <a:bodyPr anchorCtr="0" anchor="t" bIns="0" lIns="0" spcFirstLastPara="1" rIns="0" wrap="square" tIns="0">
            <a:spAutoFit/>
          </a:bodyPr>
          <a:lstStyle/>
          <a:p>
            <a:pPr indent="0" lvl="0" marL="0" marR="0" rtl="0" algn="l">
              <a:lnSpc>
                <a:spcPct val="149758"/>
              </a:lnSpc>
              <a:spcBef>
                <a:spcPts val="0"/>
              </a:spcBef>
              <a:spcAft>
                <a:spcPts val="0"/>
              </a:spcAft>
              <a:buNone/>
            </a:pPr>
            <a:r>
              <a:rPr b="1" i="0" lang="en-US" sz="4353" u="none" cap="none" strike="noStrike">
                <a:solidFill>
                  <a:srgbClr val="000000"/>
                </a:solidFill>
                <a:latin typeface="Inter"/>
                <a:ea typeface="Inter"/>
                <a:cs typeface="Inter"/>
                <a:sym typeface="Inter"/>
              </a:rPr>
              <a:t>Conclusion</a:t>
            </a:r>
            <a:endParaRPr/>
          </a:p>
        </p:txBody>
      </p:sp>
      <p:sp>
        <p:nvSpPr>
          <p:cNvPr id="464" name="Google Shape;464;p21"/>
          <p:cNvSpPr/>
          <p:nvPr/>
        </p:nvSpPr>
        <p:spPr>
          <a:xfrm>
            <a:off x="992991" y="1910810"/>
            <a:ext cx="443294" cy="277082"/>
          </a:xfrm>
          <a:custGeom>
            <a:rect b="b" l="l" r="r" t="t"/>
            <a:pathLst>
              <a:path extrusionOk="0" h="369443" w="591058">
                <a:moveTo>
                  <a:pt x="0" y="0"/>
                </a:moveTo>
                <a:lnTo>
                  <a:pt x="591058" y="0"/>
                </a:lnTo>
                <a:lnTo>
                  <a:pt x="591058" y="369443"/>
                </a:lnTo>
                <a:lnTo>
                  <a:pt x="0" y="369443"/>
                </a:lnTo>
                <a:close/>
              </a:path>
            </a:pathLst>
          </a:custGeom>
          <a:blipFill rotWithShape="1">
            <a:blip r:embed="rId3">
              <a:alphaModFix amt="0"/>
            </a:blip>
            <a:stretch>
              <a:fillRect b="17" l="-30244" r="-30234" t="0"/>
            </a:stretch>
          </a:blipFill>
          <a:ln>
            <a:noFill/>
          </a:ln>
        </p:spPr>
      </p:sp>
      <p:grpSp>
        <p:nvGrpSpPr>
          <p:cNvPr id="465" name="Google Shape;465;p21"/>
          <p:cNvGrpSpPr/>
          <p:nvPr/>
        </p:nvGrpSpPr>
        <p:grpSpPr>
          <a:xfrm>
            <a:off x="992991" y="1882235"/>
            <a:ext cx="443247" cy="305610"/>
            <a:chOff x="0" y="-38100"/>
            <a:chExt cx="590995" cy="407480"/>
          </a:xfrm>
        </p:grpSpPr>
        <p:sp>
          <p:nvSpPr>
            <p:cNvPr id="466" name="Google Shape;466;p21"/>
            <p:cNvSpPr/>
            <p:nvPr/>
          </p:nvSpPr>
          <p:spPr>
            <a:xfrm>
              <a:off x="0" y="0"/>
              <a:ext cx="590995" cy="369380"/>
            </a:xfrm>
            <a:custGeom>
              <a:rect b="b" l="l" r="r" t="t"/>
              <a:pathLst>
                <a:path extrusionOk="0" h="369380" w="590995">
                  <a:moveTo>
                    <a:pt x="0" y="0"/>
                  </a:moveTo>
                  <a:lnTo>
                    <a:pt x="590995" y="0"/>
                  </a:lnTo>
                  <a:lnTo>
                    <a:pt x="590995" y="369380"/>
                  </a:lnTo>
                  <a:lnTo>
                    <a:pt x="0" y="369380"/>
                  </a:lnTo>
                  <a:close/>
                </a:path>
              </a:pathLst>
            </a:custGeom>
            <a:blipFill rotWithShape="1">
              <a:blip r:embed="rId4">
                <a:alphaModFix amt="0"/>
              </a:blip>
              <a:stretch>
                <a:fillRect b="0" l="-30190" r="-30190" t="0"/>
              </a:stretch>
            </a:blipFill>
            <a:ln>
              <a:noFill/>
            </a:ln>
          </p:spPr>
        </p:sp>
        <p:sp>
          <p:nvSpPr>
            <p:cNvPr id="467" name="Google Shape;467;p21"/>
            <p:cNvSpPr txBox="1"/>
            <p:nvPr/>
          </p:nvSpPr>
          <p:spPr>
            <a:xfrm>
              <a:off x="0" y="-38100"/>
              <a:ext cx="590994" cy="407480"/>
            </a:xfrm>
            <a:prstGeom prst="rect">
              <a:avLst/>
            </a:prstGeom>
            <a:noFill/>
            <a:ln>
              <a:noFill/>
            </a:ln>
          </p:spPr>
          <p:txBody>
            <a:bodyPr anchorCtr="0" anchor="ctr" bIns="0" lIns="0" spcFirstLastPara="1" rIns="0" wrap="square" tIns="0">
              <a:noAutofit/>
            </a:bodyPr>
            <a:lstStyle/>
            <a:p>
              <a:pPr indent="0" lvl="0" marL="0" marR="0" rtl="0" algn="l">
                <a:lnSpc>
                  <a:spcPct val="143974"/>
                </a:lnSpc>
                <a:spcBef>
                  <a:spcPts val="0"/>
                </a:spcBef>
                <a:spcAft>
                  <a:spcPts val="0"/>
                </a:spcAft>
                <a:buNone/>
              </a:pPr>
              <a:r>
                <a:rPr b="0" i="0" lang="en-US" sz="1726" u="none" cap="none" strike="noStrike">
                  <a:solidFill>
                    <a:srgbClr val="272525"/>
                  </a:solidFill>
                  <a:latin typeface="Inter Light"/>
                  <a:ea typeface="Inter Light"/>
                  <a:cs typeface="Inter Light"/>
                  <a:sym typeface="Inter Light"/>
                </a:rPr>
                <a:t>01</a:t>
              </a:r>
              <a:endParaRPr/>
            </a:p>
          </p:txBody>
        </p:sp>
      </p:grpSp>
      <p:sp>
        <p:nvSpPr>
          <p:cNvPr id="468" name="Google Shape;468;p21"/>
          <p:cNvSpPr/>
          <p:nvPr/>
        </p:nvSpPr>
        <p:spPr>
          <a:xfrm>
            <a:off x="992991" y="2258892"/>
            <a:ext cx="5323142" cy="28575"/>
          </a:xfrm>
          <a:custGeom>
            <a:rect b="b" l="l" r="r" t="t"/>
            <a:pathLst>
              <a:path extrusionOk="0" h="38100" w="7097522">
                <a:moveTo>
                  <a:pt x="0" y="0"/>
                </a:moveTo>
                <a:lnTo>
                  <a:pt x="7097522" y="0"/>
                </a:lnTo>
                <a:lnTo>
                  <a:pt x="7097522" y="38100"/>
                </a:lnTo>
                <a:lnTo>
                  <a:pt x="0" y="38100"/>
                </a:lnTo>
                <a:close/>
              </a:path>
            </a:pathLst>
          </a:custGeom>
          <a:solidFill>
            <a:srgbClr val="4950BC"/>
          </a:solidFill>
          <a:ln>
            <a:noFill/>
          </a:ln>
        </p:spPr>
      </p:sp>
      <p:sp>
        <p:nvSpPr>
          <p:cNvPr id="469" name="Google Shape;469;p21"/>
          <p:cNvSpPr txBox="1"/>
          <p:nvPr/>
        </p:nvSpPr>
        <p:spPr>
          <a:xfrm>
            <a:off x="992991" y="2360228"/>
            <a:ext cx="5323142" cy="759266"/>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Comprehensive Business Analysis Completed</a:t>
            </a:r>
            <a:endParaRPr/>
          </a:p>
        </p:txBody>
      </p:sp>
      <p:sp>
        <p:nvSpPr>
          <p:cNvPr id="470" name="Google Shape;470;p21"/>
          <p:cNvSpPr txBox="1"/>
          <p:nvPr/>
        </p:nvSpPr>
        <p:spPr>
          <a:xfrm>
            <a:off x="992991" y="3099483"/>
            <a:ext cx="5323142" cy="1386878"/>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Analyzed </a:t>
            </a:r>
            <a:r>
              <a:rPr b="1" i="0" lang="en-US" sz="1726" u="none" cap="none" strike="noStrike">
                <a:solidFill>
                  <a:srgbClr val="272525"/>
                </a:solidFill>
                <a:latin typeface="Inter"/>
                <a:ea typeface="Inter"/>
                <a:cs typeface="Inter"/>
                <a:sym typeface="Inter"/>
              </a:rPr>
              <a:t>28,027 customer interactions</a:t>
            </a:r>
            <a:r>
              <a:rPr b="0" i="0" lang="en-US" sz="1726" u="none" cap="none" strike="noStrike">
                <a:solidFill>
                  <a:srgbClr val="272525"/>
                </a:solidFill>
                <a:latin typeface="Inter"/>
                <a:ea typeface="Inter"/>
                <a:cs typeface="Inter"/>
                <a:sym typeface="Inter"/>
              </a:rPr>
              <a:t> across operational, financial, customer satisfaction, and workforce performance dimensions to identify business improvement opportunities.</a:t>
            </a:r>
            <a:endParaRPr/>
          </a:p>
        </p:txBody>
      </p:sp>
      <p:sp>
        <p:nvSpPr>
          <p:cNvPr id="471" name="Google Shape;471;p21"/>
          <p:cNvSpPr/>
          <p:nvPr/>
        </p:nvSpPr>
        <p:spPr>
          <a:xfrm>
            <a:off x="6489202" y="1910810"/>
            <a:ext cx="443294" cy="277082"/>
          </a:xfrm>
          <a:custGeom>
            <a:rect b="b" l="l" r="r" t="t"/>
            <a:pathLst>
              <a:path extrusionOk="0" h="369443" w="591058">
                <a:moveTo>
                  <a:pt x="0" y="0"/>
                </a:moveTo>
                <a:lnTo>
                  <a:pt x="591058" y="0"/>
                </a:lnTo>
                <a:lnTo>
                  <a:pt x="591058" y="369443"/>
                </a:lnTo>
                <a:lnTo>
                  <a:pt x="0" y="369443"/>
                </a:lnTo>
                <a:close/>
              </a:path>
            </a:pathLst>
          </a:custGeom>
          <a:blipFill rotWithShape="1">
            <a:blip r:embed="rId3">
              <a:alphaModFix amt="0"/>
            </a:blip>
            <a:stretch>
              <a:fillRect b="17" l="-30244" r="-30234" t="0"/>
            </a:stretch>
          </a:blipFill>
          <a:ln>
            <a:noFill/>
          </a:ln>
        </p:spPr>
      </p:sp>
      <p:grpSp>
        <p:nvGrpSpPr>
          <p:cNvPr id="472" name="Google Shape;472;p21"/>
          <p:cNvGrpSpPr/>
          <p:nvPr/>
        </p:nvGrpSpPr>
        <p:grpSpPr>
          <a:xfrm>
            <a:off x="6489202" y="1882235"/>
            <a:ext cx="443247" cy="305610"/>
            <a:chOff x="0" y="-38100"/>
            <a:chExt cx="590995" cy="407480"/>
          </a:xfrm>
        </p:grpSpPr>
        <p:sp>
          <p:nvSpPr>
            <p:cNvPr id="473" name="Google Shape;473;p21"/>
            <p:cNvSpPr/>
            <p:nvPr/>
          </p:nvSpPr>
          <p:spPr>
            <a:xfrm>
              <a:off x="0" y="0"/>
              <a:ext cx="590995" cy="369380"/>
            </a:xfrm>
            <a:custGeom>
              <a:rect b="b" l="l" r="r" t="t"/>
              <a:pathLst>
                <a:path extrusionOk="0" h="369380" w="590995">
                  <a:moveTo>
                    <a:pt x="0" y="0"/>
                  </a:moveTo>
                  <a:lnTo>
                    <a:pt x="590995" y="0"/>
                  </a:lnTo>
                  <a:lnTo>
                    <a:pt x="590995" y="369380"/>
                  </a:lnTo>
                  <a:lnTo>
                    <a:pt x="0" y="369380"/>
                  </a:lnTo>
                  <a:close/>
                </a:path>
              </a:pathLst>
            </a:custGeom>
            <a:blipFill rotWithShape="1">
              <a:blip r:embed="rId4">
                <a:alphaModFix amt="0"/>
              </a:blip>
              <a:stretch>
                <a:fillRect b="0" l="-30190" r="-30190" t="0"/>
              </a:stretch>
            </a:blipFill>
            <a:ln>
              <a:noFill/>
            </a:ln>
          </p:spPr>
        </p:sp>
        <p:sp>
          <p:nvSpPr>
            <p:cNvPr id="474" name="Google Shape;474;p21"/>
            <p:cNvSpPr txBox="1"/>
            <p:nvPr/>
          </p:nvSpPr>
          <p:spPr>
            <a:xfrm>
              <a:off x="0" y="-38100"/>
              <a:ext cx="590994" cy="407480"/>
            </a:xfrm>
            <a:prstGeom prst="rect">
              <a:avLst/>
            </a:prstGeom>
            <a:noFill/>
            <a:ln>
              <a:noFill/>
            </a:ln>
          </p:spPr>
          <p:txBody>
            <a:bodyPr anchorCtr="0" anchor="ctr" bIns="0" lIns="0" spcFirstLastPara="1" rIns="0" wrap="square" tIns="0">
              <a:noAutofit/>
            </a:bodyPr>
            <a:lstStyle/>
            <a:p>
              <a:pPr indent="0" lvl="0" marL="0" marR="0" rtl="0" algn="l">
                <a:lnSpc>
                  <a:spcPct val="143974"/>
                </a:lnSpc>
                <a:spcBef>
                  <a:spcPts val="0"/>
                </a:spcBef>
                <a:spcAft>
                  <a:spcPts val="0"/>
                </a:spcAft>
                <a:buNone/>
              </a:pPr>
              <a:r>
                <a:rPr b="0" i="0" lang="en-US" sz="1726" u="none" cap="none" strike="noStrike">
                  <a:solidFill>
                    <a:srgbClr val="272525"/>
                  </a:solidFill>
                  <a:latin typeface="Inter Light"/>
                  <a:ea typeface="Inter Light"/>
                  <a:cs typeface="Inter Light"/>
                  <a:sym typeface="Inter Light"/>
                </a:rPr>
                <a:t>02</a:t>
              </a:r>
              <a:endParaRPr/>
            </a:p>
          </p:txBody>
        </p:sp>
      </p:grpSp>
      <p:sp>
        <p:nvSpPr>
          <p:cNvPr id="475" name="Google Shape;475;p21"/>
          <p:cNvSpPr/>
          <p:nvPr/>
        </p:nvSpPr>
        <p:spPr>
          <a:xfrm>
            <a:off x="6489202" y="2258892"/>
            <a:ext cx="5323332" cy="28575"/>
          </a:xfrm>
          <a:custGeom>
            <a:rect b="b" l="l" r="r" t="t"/>
            <a:pathLst>
              <a:path extrusionOk="0" h="38100" w="7097776">
                <a:moveTo>
                  <a:pt x="0" y="0"/>
                </a:moveTo>
                <a:lnTo>
                  <a:pt x="7097776" y="0"/>
                </a:lnTo>
                <a:lnTo>
                  <a:pt x="7097776" y="38100"/>
                </a:lnTo>
                <a:lnTo>
                  <a:pt x="0" y="38100"/>
                </a:lnTo>
                <a:close/>
              </a:path>
            </a:pathLst>
          </a:custGeom>
          <a:solidFill>
            <a:srgbClr val="4950BC"/>
          </a:solidFill>
          <a:ln>
            <a:noFill/>
          </a:ln>
        </p:spPr>
      </p:sp>
      <p:sp>
        <p:nvSpPr>
          <p:cNvPr id="476" name="Google Shape;476;p21"/>
          <p:cNvSpPr txBox="1"/>
          <p:nvPr/>
        </p:nvSpPr>
        <p:spPr>
          <a:xfrm>
            <a:off x="6489202" y="2360228"/>
            <a:ext cx="5323294"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Peak-Hour Demand Patterns Identified</a:t>
            </a:r>
            <a:endParaRPr/>
          </a:p>
        </p:txBody>
      </p:sp>
      <p:sp>
        <p:nvSpPr>
          <p:cNvPr id="477" name="Google Shape;477;p21"/>
          <p:cNvSpPr txBox="1"/>
          <p:nvPr/>
        </p:nvSpPr>
        <p:spPr>
          <a:xfrm>
            <a:off x="6489202" y="2753182"/>
            <a:ext cx="5323294" cy="1386878"/>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Peak-hour analysis identified </a:t>
            </a:r>
            <a:r>
              <a:rPr b="1" i="0" lang="en-US" sz="1726" u="none" cap="none" strike="noStrike">
                <a:solidFill>
                  <a:srgbClr val="272525"/>
                </a:solidFill>
                <a:latin typeface="Inter"/>
                <a:ea typeface="Inter"/>
                <a:cs typeface="Inter"/>
                <a:sym typeface="Inter"/>
              </a:rPr>
              <a:t>6 AM to 4 PM</a:t>
            </a:r>
            <a:r>
              <a:rPr b="0" i="0" lang="en-US" sz="1726" u="none" cap="none" strike="noStrike">
                <a:solidFill>
                  <a:srgbClr val="272525"/>
                </a:solidFill>
                <a:latin typeface="Inter"/>
                <a:ea typeface="Inter"/>
                <a:cs typeface="Inter"/>
                <a:sym typeface="Inter"/>
              </a:rPr>
              <a:t> as the highest demand period, with hourly interactions reaching a maximum of </a:t>
            </a:r>
            <a:r>
              <a:rPr b="1" i="0" lang="en-US" sz="1726" u="none" cap="none" strike="noStrike">
                <a:solidFill>
                  <a:srgbClr val="272525"/>
                </a:solidFill>
                <a:latin typeface="Inter"/>
                <a:ea typeface="Inter"/>
                <a:cs typeface="Inter"/>
                <a:sym typeface="Inter"/>
              </a:rPr>
              <a:t>699</a:t>
            </a:r>
            <a:r>
              <a:rPr b="0" i="0" lang="en-US" sz="1726" u="none" cap="none" strike="noStrike">
                <a:solidFill>
                  <a:srgbClr val="272525"/>
                </a:solidFill>
                <a:latin typeface="Inter"/>
                <a:ea typeface="Inter"/>
                <a:cs typeface="Inter"/>
                <a:sym typeface="Inter"/>
              </a:rPr>
              <a:t>, supporting better workforce planning and resource allocation.</a:t>
            </a:r>
            <a:endParaRPr/>
          </a:p>
        </p:txBody>
      </p:sp>
      <p:sp>
        <p:nvSpPr>
          <p:cNvPr id="478" name="Google Shape;478;p21"/>
          <p:cNvSpPr/>
          <p:nvPr/>
        </p:nvSpPr>
        <p:spPr>
          <a:xfrm>
            <a:off x="11985565" y="1910810"/>
            <a:ext cx="443294" cy="277082"/>
          </a:xfrm>
          <a:custGeom>
            <a:rect b="b" l="l" r="r" t="t"/>
            <a:pathLst>
              <a:path extrusionOk="0" h="369443" w="591058">
                <a:moveTo>
                  <a:pt x="0" y="0"/>
                </a:moveTo>
                <a:lnTo>
                  <a:pt x="591058" y="0"/>
                </a:lnTo>
                <a:lnTo>
                  <a:pt x="591058" y="369443"/>
                </a:lnTo>
                <a:lnTo>
                  <a:pt x="0" y="369443"/>
                </a:lnTo>
                <a:close/>
              </a:path>
            </a:pathLst>
          </a:custGeom>
          <a:blipFill rotWithShape="1">
            <a:blip r:embed="rId3">
              <a:alphaModFix amt="0"/>
            </a:blip>
            <a:stretch>
              <a:fillRect b="17" l="-30244" r="-30234" t="0"/>
            </a:stretch>
          </a:blipFill>
          <a:ln>
            <a:noFill/>
          </a:ln>
        </p:spPr>
      </p:sp>
      <p:grpSp>
        <p:nvGrpSpPr>
          <p:cNvPr id="479" name="Google Shape;479;p21"/>
          <p:cNvGrpSpPr/>
          <p:nvPr/>
        </p:nvGrpSpPr>
        <p:grpSpPr>
          <a:xfrm>
            <a:off x="11985565" y="1882235"/>
            <a:ext cx="443247" cy="305610"/>
            <a:chOff x="0" y="-38100"/>
            <a:chExt cx="590995" cy="407480"/>
          </a:xfrm>
        </p:grpSpPr>
        <p:sp>
          <p:nvSpPr>
            <p:cNvPr id="480" name="Google Shape;480;p21"/>
            <p:cNvSpPr/>
            <p:nvPr/>
          </p:nvSpPr>
          <p:spPr>
            <a:xfrm>
              <a:off x="0" y="0"/>
              <a:ext cx="590995" cy="369380"/>
            </a:xfrm>
            <a:custGeom>
              <a:rect b="b" l="l" r="r" t="t"/>
              <a:pathLst>
                <a:path extrusionOk="0" h="369380" w="590995">
                  <a:moveTo>
                    <a:pt x="0" y="0"/>
                  </a:moveTo>
                  <a:lnTo>
                    <a:pt x="590995" y="0"/>
                  </a:lnTo>
                  <a:lnTo>
                    <a:pt x="590995" y="369380"/>
                  </a:lnTo>
                  <a:lnTo>
                    <a:pt x="0" y="369380"/>
                  </a:lnTo>
                  <a:close/>
                </a:path>
              </a:pathLst>
            </a:custGeom>
            <a:blipFill rotWithShape="1">
              <a:blip r:embed="rId4">
                <a:alphaModFix amt="0"/>
              </a:blip>
              <a:stretch>
                <a:fillRect b="0" l="-30190" r="-30190" t="0"/>
              </a:stretch>
            </a:blipFill>
            <a:ln>
              <a:noFill/>
            </a:ln>
          </p:spPr>
        </p:sp>
        <p:sp>
          <p:nvSpPr>
            <p:cNvPr id="481" name="Google Shape;481;p21"/>
            <p:cNvSpPr txBox="1"/>
            <p:nvPr/>
          </p:nvSpPr>
          <p:spPr>
            <a:xfrm>
              <a:off x="0" y="-38100"/>
              <a:ext cx="590994" cy="407480"/>
            </a:xfrm>
            <a:prstGeom prst="rect">
              <a:avLst/>
            </a:prstGeom>
            <a:noFill/>
            <a:ln>
              <a:noFill/>
            </a:ln>
          </p:spPr>
          <p:txBody>
            <a:bodyPr anchorCtr="0" anchor="ctr" bIns="0" lIns="0" spcFirstLastPara="1" rIns="0" wrap="square" tIns="0">
              <a:noAutofit/>
            </a:bodyPr>
            <a:lstStyle/>
            <a:p>
              <a:pPr indent="0" lvl="0" marL="0" marR="0" rtl="0" algn="l">
                <a:lnSpc>
                  <a:spcPct val="143974"/>
                </a:lnSpc>
                <a:spcBef>
                  <a:spcPts val="0"/>
                </a:spcBef>
                <a:spcAft>
                  <a:spcPts val="0"/>
                </a:spcAft>
                <a:buNone/>
              </a:pPr>
              <a:r>
                <a:rPr b="0" i="0" lang="en-US" sz="1726" u="none" cap="none" strike="noStrike">
                  <a:solidFill>
                    <a:srgbClr val="272525"/>
                  </a:solidFill>
                  <a:latin typeface="Inter Light"/>
                  <a:ea typeface="Inter Light"/>
                  <a:cs typeface="Inter Light"/>
                  <a:sym typeface="Inter Light"/>
                </a:rPr>
                <a:t>03</a:t>
              </a:r>
              <a:endParaRPr/>
            </a:p>
          </p:txBody>
        </p:sp>
      </p:grpSp>
      <p:sp>
        <p:nvSpPr>
          <p:cNvPr id="482" name="Google Shape;482;p21"/>
          <p:cNvSpPr/>
          <p:nvPr/>
        </p:nvSpPr>
        <p:spPr>
          <a:xfrm>
            <a:off x="11985565" y="2258892"/>
            <a:ext cx="5323142" cy="28575"/>
          </a:xfrm>
          <a:custGeom>
            <a:rect b="b" l="l" r="r" t="t"/>
            <a:pathLst>
              <a:path extrusionOk="0" h="38100" w="7097522">
                <a:moveTo>
                  <a:pt x="0" y="0"/>
                </a:moveTo>
                <a:lnTo>
                  <a:pt x="7097522" y="0"/>
                </a:lnTo>
                <a:lnTo>
                  <a:pt x="7097522" y="38100"/>
                </a:lnTo>
                <a:lnTo>
                  <a:pt x="0" y="38100"/>
                </a:lnTo>
                <a:close/>
              </a:path>
            </a:pathLst>
          </a:custGeom>
          <a:solidFill>
            <a:srgbClr val="4950BC"/>
          </a:solidFill>
          <a:ln>
            <a:noFill/>
          </a:ln>
        </p:spPr>
      </p:sp>
      <p:sp>
        <p:nvSpPr>
          <p:cNvPr id="483" name="Google Shape;483;p21"/>
          <p:cNvSpPr txBox="1"/>
          <p:nvPr/>
        </p:nvSpPr>
        <p:spPr>
          <a:xfrm>
            <a:off x="11985565" y="2360228"/>
            <a:ext cx="5323142" cy="1105567"/>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Customer Satisfaction Improvement Opportunities Identifiedfaction Opportunities Found</a:t>
            </a:r>
            <a:endParaRPr/>
          </a:p>
        </p:txBody>
      </p:sp>
      <p:sp>
        <p:nvSpPr>
          <p:cNvPr id="484" name="Google Shape;484;p21"/>
          <p:cNvSpPr txBox="1"/>
          <p:nvPr/>
        </p:nvSpPr>
        <p:spPr>
          <a:xfrm>
            <a:off x="11985565" y="3445783"/>
            <a:ext cx="5323142" cy="1386878"/>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The overall customer rating of </a:t>
            </a:r>
            <a:r>
              <a:rPr b="1" i="0" lang="en-US" sz="1726" u="none" cap="none" strike="noStrike">
                <a:solidFill>
                  <a:srgbClr val="272525"/>
                </a:solidFill>
                <a:latin typeface="Inter"/>
                <a:ea typeface="Inter"/>
                <a:cs typeface="Inter"/>
                <a:sym typeface="Inter"/>
              </a:rPr>
              <a:t>2.93</a:t>
            </a:r>
            <a:r>
              <a:rPr b="0" i="0" lang="en-US" sz="1726" u="none" cap="none" strike="noStrike">
                <a:solidFill>
                  <a:srgbClr val="272525"/>
                </a:solidFill>
                <a:latin typeface="Inter"/>
                <a:ea typeface="Inter"/>
                <a:cs typeface="Inter"/>
                <a:sym typeface="Inter"/>
              </a:rPr>
              <a:t> highlights opportunities to improve service quality through targeted training, operational improvements, and customer experience initiatives.</a:t>
            </a:r>
            <a:endParaRPr/>
          </a:p>
        </p:txBody>
      </p:sp>
      <p:sp>
        <p:nvSpPr>
          <p:cNvPr id="485" name="Google Shape;485;p21"/>
          <p:cNvSpPr/>
          <p:nvPr/>
        </p:nvSpPr>
        <p:spPr>
          <a:xfrm>
            <a:off x="992991" y="5171951"/>
            <a:ext cx="443294" cy="277082"/>
          </a:xfrm>
          <a:custGeom>
            <a:rect b="b" l="l" r="r" t="t"/>
            <a:pathLst>
              <a:path extrusionOk="0" h="369443" w="591058">
                <a:moveTo>
                  <a:pt x="0" y="0"/>
                </a:moveTo>
                <a:lnTo>
                  <a:pt x="591058" y="0"/>
                </a:lnTo>
                <a:lnTo>
                  <a:pt x="591058" y="369443"/>
                </a:lnTo>
                <a:lnTo>
                  <a:pt x="0" y="369443"/>
                </a:lnTo>
                <a:close/>
              </a:path>
            </a:pathLst>
          </a:custGeom>
          <a:blipFill rotWithShape="1">
            <a:blip r:embed="rId3">
              <a:alphaModFix amt="0"/>
            </a:blip>
            <a:stretch>
              <a:fillRect b="17" l="-30244" r="-30234" t="0"/>
            </a:stretch>
          </a:blipFill>
          <a:ln>
            <a:noFill/>
          </a:ln>
        </p:spPr>
      </p:sp>
      <p:grpSp>
        <p:nvGrpSpPr>
          <p:cNvPr id="486" name="Google Shape;486;p21"/>
          <p:cNvGrpSpPr/>
          <p:nvPr/>
        </p:nvGrpSpPr>
        <p:grpSpPr>
          <a:xfrm>
            <a:off x="992991" y="5143376"/>
            <a:ext cx="443247" cy="305610"/>
            <a:chOff x="0" y="-38100"/>
            <a:chExt cx="590995" cy="407480"/>
          </a:xfrm>
        </p:grpSpPr>
        <p:sp>
          <p:nvSpPr>
            <p:cNvPr id="487" name="Google Shape;487;p21"/>
            <p:cNvSpPr/>
            <p:nvPr/>
          </p:nvSpPr>
          <p:spPr>
            <a:xfrm>
              <a:off x="0" y="0"/>
              <a:ext cx="590995" cy="369380"/>
            </a:xfrm>
            <a:custGeom>
              <a:rect b="b" l="l" r="r" t="t"/>
              <a:pathLst>
                <a:path extrusionOk="0" h="369380" w="590995">
                  <a:moveTo>
                    <a:pt x="0" y="0"/>
                  </a:moveTo>
                  <a:lnTo>
                    <a:pt x="590995" y="0"/>
                  </a:lnTo>
                  <a:lnTo>
                    <a:pt x="590995" y="369380"/>
                  </a:lnTo>
                  <a:lnTo>
                    <a:pt x="0" y="369380"/>
                  </a:lnTo>
                  <a:close/>
                </a:path>
              </a:pathLst>
            </a:custGeom>
            <a:blipFill rotWithShape="1">
              <a:blip r:embed="rId4">
                <a:alphaModFix amt="0"/>
              </a:blip>
              <a:stretch>
                <a:fillRect b="0" l="-30190" r="-30190" t="0"/>
              </a:stretch>
            </a:blipFill>
            <a:ln>
              <a:noFill/>
            </a:ln>
          </p:spPr>
        </p:sp>
        <p:sp>
          <p:nvSpPr>
            <p:cNvPr id="488" name="Google Shape;488;p21"/>
            <p:cNvSpPr txBox="1"/>
            <p:nvPr/>
          </p:nvSpPr>
          <p:spPr>
            <a:xfrm>
              <a:off x="0" y="-38100"/>
              <a:ext cx="590994" cy="407480"/>
            </a:xfrm>
            <a:prstGeom prst="rect">
              <a:avLst/>
            </a:prstGeom>
            <a:noFill/>
            <a:ln>
              <a:noFill/>
            </a:ln>
          </p:spPr>
          <p:txBody>
            <a:bodyPr anchorCtr="0" anchor="ctr" bIns="0" lIns="0" spcFirstLastPara="1" rIns="0" wrap="square" tIns="0">
              <a:noAutofit/>
            </a:bodyPr>
            <a:lstStyle/>
            <a:p>
              <a:pPr indent="0" lvl="0" marL="0" marR="0" rtl="0" algn="l">
                <a:lnSpc>
                  <a:spcPct val="143974"/>
                </a:lnSpc>
                <a:spcBef>
                  <a:spcPts val="0"/>
                </a:spcBef>
                <a:spcAft>
                  <a:spcPts val="0"/>
                </a:spcAft>
                <a:buNone/>
              </a:pPr>
              <a:r>
                <a:rPr b="0" i="0" lang="en-US" sz="1726" u="none" cap="none" strike="noStrike">
                  <a:solidFill>
                    <a:srgbClr val="272525"/>
                  </a:solidFill>
                  <a:latin typeface="Inter Light"/>
                  <a:ea typeface="Inter Light"/>
                  <a:cs typeface="Inter Light"/>
                  <a:sym typeface="Inter Light"/>
                </a:rPr>
                <a:t>04</a:t>
              </a:r>
              <a:endParaRPr/>
            </a:p>
          </p:txBody>
        </p:sp>
      </p:grpSp>
      <p:sp>
        <p:nvSpPr>
          <p:cNvPr id="489" name="Google Shape;489;p21"/>
          <p:cNvSpPr/>
          <p:nvPr/>
        </p:nvSpPr>
        <p:spPr>
          <a:xfrm>
            <a:off x="992991" y="5520033"/>
            <a:ext cx="8071294" cy="28575"/>
          </a:xfrm>
          <a:custGeom>
            <a:rect b="b" l="l" r="r" t="t"/>
            <a:pathLst>
              <a:path extrusionOk="0" h="38100" w="10761726">
                <a:moveTo>
                  <a:pt x="0" y="0"/>
                </a:moveTo>
                <a:lnTo>
                  <a:pt x="10761726" y="0"/>
                </a:lnTo>
                <a:lnTo>
                  <a:pt x="10761726" y="38100"/>
                </a:lnTo>
                <a:lnTo>
                  <a:pt x="0" y="38100"/>
                </a:lnTo>
                <a:close/>
              </a:path>
            </a:pathLst>
          </a:custGeom>
          <a:solidFill>
            <a:srgbClr val="4950BC"/>
          </a:solidFill>
          <a:ln>
            <a:noFill/>
          </a:ln>
        </p:spPr>
      </p:sp>
      <p:sp>
        <p:nvSpPr>
          <p:cNvPr id="490" name="Google Shape;490;p21"/>
          <p:cNvSpPr txBox="1"/>
          <p:nvPr/>
        </p:nvSpPr>
        <p:spPr>
          <a:xfrm>
            <a:off x="992991" y="5621369"/>
            <a:ext cx="8071247"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Revenue &amp; Cost Analysis</a:t>
            </a:r>
            <a:endParaRPr/>
          </a:p>
        </p:txBody>
      </p:sp>
      <p:sp>
        <p:nvSpPr>
          <p:cNvPr id="491" name="Google Shape;491;p21"/>
          <p:cNvSpPr txBox="1"/>
          <p:nvPr/>
        </p:nvSpPr>
        <p:spPr>
          <a:xfrm>
            <a:off x="992991" y="6014323"/>
            <a:ext cx="8071247"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Total sales reached </a:t>
            </a:r>
            <a:r>
              <a:rPr b="1" i="0" lang="en-US" sz="1726" u="none" cap="none" strike="noStrike">
                <a:solidFill>
                  <a:srgbClr val="272525"/>
                </a:solidFill>
                <a:latin typeface="Inter"/>
                <a:ea typeface="Inter"/>
                <a:cs typeface="Inter"/>
                <a:sym typeface="Inter"/>
              </a:rPr>
              <a:t>₹214,065.90</a:t>
            </a:r>
            <a:r>
              <a:rPr b="0" i="0" lang="en-US" sz="1726" u="none" cap="none" strike="noStrike">
                <a:solidFill>
                  <a:srgbClr val="272525"/>
                </a:solidFill>
                <a:latin typeface="Inter"/>
                <a:ea typeface="Inter"/>
                <a:cs typeface="Inter"/>
                <a:sym typeface="Inter"/>
              </a:rPr>
              <a:t>, while operational costs were </a:t>
            </a:r>
            <a:r>
              <a:rPr b="1" i="0" lang="en-US" sz="1726" u="none" cap="none" strike="noStrike">
                <a:solidFill>
                  <a:srgbClr val="272525"/>
                </a:solidFill>
                <a:latin typeface="Inter"/>
                <a:ea typeface="Inter"/>
                <a:cs typeface="Inter"/>
                <a:sym typeface="Inter"/>
              </a:rPr>
              <a:t>₹99,146.57</a:t>
            </a:r>
            <a:r>
              <a:rPr b="0" i="0" lang="en-US" sz="1726" u="none" cap="none" strike="noStrike">
                <a:solidFill>
                  <a:srgbClr val="272525"/>
                </a:solidFill>
                <a:latin typeface="Inter"/>
                <a:ea typeface="Inter"/>
                <a:cs typeface="Inter"/>
                <a:sym typeface="Inter"/>
              </a:rPr>
              <a:t>, providing valuable insights for strategic investment and profitability analysis across consultation services.</a:t>
            </a:r>
            <a:endParaRPr/>
          </a:p>
        </p:txBody>
      </p:sp>
      <p:sp>
        <p:nvSpPr>
          <p:cNvPr id="492" name="Google Shape;492;p21"/>
          <p:cNvSpPr/>
          <p:nvPr/>
        </p:nvSpPr>
        <p:spPr>
          <a:xfrm>
            <a:off x="9237307" y="5171951"/>
            <a:ext cx="443294" cy="277082"/>
          </a:xfrm>
          <a:custGeom>
            <a:rect b="b" l="l" r="r" t="t"/>
            <a:pathLst>
              <a:path extrusionOk="0" h="369443" w="591058">
                <a:moveTo>
                  <a:pt x="0" y="0"/>
                </a:moveTo>
                <a:lnTo>
                  <a:pt x="591058" y="0"/>
                </a:lnTo>
                <a:lnTo>
                  <a:pt x="591058" y="369443"/>
                </a:lnTo>
                <a:lnTo>
                  <a:pt x="0" y="369443"/>
                </a:lnTo>
                <a:close/>
              </a:path>
            </a:pathLst>
          </a:custGeom>
          <a:blipFill rotWithShape="1">
            <a:blip r:embed="rId3">
              <a:alphaModFix amt="0"/>
            </a:blip>
            <a:stretch>
              <a:fillRect b="17" l="-30244" r="-30234" t="0"/>
            </a:stretch>
          </a:blipFill>
          <a:ln>
            <a:noFill/>
          </a:ln>
        </p:spPr>
      </p:sp>
      <p:grpSp>
        <p:nvGrpSpPr>
          <p:cNvPr id="493" name="Google Shape;493;p21"/>
          <p:cNvGrpSpPr/>
          <p:nvPr/>
        </p:nvGrpSpPr>
        <p:grpSpPr>
          <a:xfrm>
            <a:off x="9237307" y="5143376"/>
            <a:ext cx="443247" cy="305610"/>
            <a:chOff x="0" y="-38100"/>
            <a:chExt cx="590995" cy="407480"/>
          </a:xfrm>
        </p:grpSpPr>
        <p:sp>
          <p:nvSpPr>
            <p:cNvPr id="494" name="Google Shape;494;p21"/>
            <p:cNvSpPr/>
            <p:nvPr/>
          </p:nvSpPr>
          <p:spPr>
            <a:xfrm>
              <a:off x="0" y="0"/>
              <a:ext cx="590995" cy="369380"/>
            </a:xfrm>
            <a:custGeom>
              <a:rect b="b" l="l" r="r" t="t"/>
              <a:pathLst>
                <a:path extrusionOk="0" h="369380" w="590995">
                  <a:moveTo>
                    <a:pt x="0" y="0"/>
                  </a:moveTo>
                  <a:lnTo>
                    <a:pt x="590995" y="0"/>
                  </a:lnTo>
                  <a:lnTo>
                    <a:pt x="590995" y="369380"/>
                  </a:lnTo>
                  <a:lnTo>
                    <a:pt x="0" y="369380"/>
                  </a:lnTo>
                  <a:close/>
                </a:path>
              </a:pathLst>
            </a:custGeom>
            <a:blipFill rotWithShape="1">
              <a:blip r:embed="rId4">
                <a:alphaModFix amt="0"/>
              </a:blip>
              <a:stretch>
                <a:fillRect b="0" l="-30190" r="-30190" t="0"/>
              </a:stretch>
            </a:blipFill>
            <a:ln>
              <a:noFill/>
            </a:ln>
          </p:spPr>
        </p:sp>
        <p:sp>
          <p:nvSpPr>
            <p:cNvPr id="495" name="Google Shape;495;p21"/>
            <p:cNvSpPr txBox="1"/>
            <p:nvPr/>
          </p:nvSpPr>
          <p:spPr>
            <a:xfrm>
              <a:off x="0" y="-38100"/>
              <a:ext cx="590994" cy="407480"/>
            </a:xfrm>
            <a:prstGeom prst="rect">
              <a:avLst/>
            </a:prstGeom>
            <a:noFill/>
            <a:ln>
              <a:noFill/>
            </a:ln>
          </p:spPr>
          <p:txBody>
            <a:bodyPr anchorCtr="0" anchor="ctr" bIns="0" lIns="0" spcFirstLastPara="1" rIns="0" wrap="square" tIns="0">
              <a:noAutofit/>
            </a:bodyPr>
            <a:lstStyle/>
            <a:p>
              <a:pPr indent="0" lvl="0" marL="0" marR="0" rtl="0" algn="l">
                <a:lnSpc>
                  <a:spcPct val="143974"/>
                </a:lnSpc>
                <a:spcBef>
                  <a:spcPts val="0"/>
                </a:spcBef>
                <a:spcAft>
                  <a:spcPts val="0"/>
                </a:spcAft>
                <a:buNone/>
              </a:pPr>
              <a:r>
                <a:rPr b="0" i="0" lang="en-US" sz="1726" u="none" cap="none" strike="noStrike">
                  <a:solidFill>
                    <a:srgbClr val="272525"/>
                  </a:solidFill>
                  <a:latin typeface="Inter Light"/>
                  <a:ea typeface="Inter Light"/>
                  <a:cs typeface="Inter Light"/>
                  <a:sym typeface="Inter Light"/>
                </a:rPr>
                <a:t>05</a:t>
              </a:r>
              <a:endParaRPr/>
            </a:p>
          </p:txBody>
        </p:sp>
      </p:grpSp>
      <p:sp>
        <p:nvSpPr>
          <p:cNvPr id="496" name="Google Shape;496;p21"/>
          <p:cNvSpPr/>
          <p:nvPr/>
        </p:nvSpPr>
        <p:spPr>
          <a:xfrm>
            <a:off x="9237307" y="5520033"/>
            <a:ext cx="8071390" cy="28575"/>
          </a:xfrm>
          <a:custGeom>
            <a:rect b="b" l="l" r="r" t="t"/>
            <a:pathLst>
              <a:path extrusionOk="0" h="38100" w="10761853">
                <a:moveTo>
                  <a:pt x="0" y="0"/>
                </a:moveTo>
                <a:lnTo>
                  <a:pt x="10761853" y="0"/>
                </a:lnTo>
                <a:lnTo>
                  <a:pt x="10761853" y="38100"/>
                </a:lnTo>
                <a:lnTo>
                  <a:pt x="0" y="38100"/>
                </a:lnTo>
                <a:close/>
              </a:path>
            </a:pathLst>
          </a:custGeom>
          <a:solidFill>
            <a:srgbClr val="4950BC"/>
          </a:solidFill>
          <a:ln>
            <a:noFill/>
          </a:ln>
        </p:spPr>
      </p:sp>
      <p:sp>
        <p:nvSpPr>
          <p:cNvPr id="497" name="Google Shape;497;p21"/>
          <p:cNvSpPr txBox="1"/>
          <p:nvPr/>
        </p:nvSpPr>
        <p:spPr>
          <a:xfrm>
            <a:off x="9237307" y="5621369"/>
            <a:ext cx="8071399" cy="412975"/>
          </a:xfrm>
          <a:prstGeom prst="rect">
            <a:avLst/>
          </a:prstGeom>
          <a:noFill/>
          <a:ln>
            <a:noFill/>
          </a:ln>
        </p:spPr>
        <p:txBody>
          <a:bodyPr anchorCtr="0" anchor="t" bIns="0" lIns="0" spcFirstLastPara="1" rIns="0" wrap="square" tIns="0">
            <a:spAutoFit/>
          </a:bodyPr>
          <a:lstStyle/>
          <a:p>
            <a:pPr indent="0" lvl="0" marL="0" marR="0" rtl="0" algn="l">
              <a:lnSpc>
                <a:spcPct val="149770"/>
              </a:lnSpc>
              <a:spcBef>
                <a:spcPts val="0"/>
              </a:spcBef>
              <a:spcAft>
                <a:spcPts val="0"/>
              </a:spcAft>
              <a:buNone/>
            </a:pPr>
            <a:r>
              <a:rPr b="1" i="0" lang="en-US" sz="2176" u="none" cap="none" strike="noStrike">
                <a:solidFill>
                  <a:srgbClr val="272525"/>
                </a:solidFill>
                <a:latin typeface="Inter"/>
                <a:ea typeface="Inter"/>
                <a:cs typeface="Inter"/>
                <a:sym typeface="Inter"/>
              </a:rPr>
              <a:t>Strategic Recommendations Delivered</a:t>
            </a:r>
            <a:endParaRPr/>
          </a:p>
        </p:txBody>
      </p:sp>
      <p:sp>
        <p:nvSpPr>
          <p:cNvPr id="498" name="Google Shape;498;p21"/>
          <p:cNvSpPr txBox="1"/>
          <p:nvPr/>
        </p:nvSpPr>
        <p:spPr>
          <a:xfrm>
            <a:off x="9237307" y="6014323"/>
            <a:ext cx="8071399" cy="1071115"/>
          </a:xfrm>
          <a:prstGeom prst="rect">
            <a:avLst/>
          </a:prstGeom>
          <a:noFill/>
          <a:ln>
            <a:noFill/>
          </a:ln>
        </p:spPr>
        <p:txBody>
          <a:bodyPr anchorCtr="0" anchor="t" bIns="0" lIns="0" spcFirstLastPara="1" rIns="0" wrap="square" tIns="0">
            <a:spAutoFit/>
          </a:bodyPr>
          <a:lstStyle/>
          <a:p>
            <a:pPr indent="0" lvl="0" marL="0" marR="0" rtl="0" algn="l">
              <a:lnSpc>
                <a:spcPct val="171320"/>
              </a:lnSpc>
              <a:spcBef>
                <a:spcPts val="0"/>
              </a:spcBef>
              <a:spcAft>
                <a:spcPts val="0"/>
              </a:spcAft>
              <a:buNone/>
            </a:pPr>
            <a:r>
              <a:rPr b="0" i="0" lang="en-US" sz="1726" u="none" cap="none" strike="noStrike">
                <a:solidFill>
                  <a:srgbClr val="272525"/>
                </a:solidFill>
                <a:latin typeface="Inter"/>
                <a:ea typeface="Inter"/>
                <a:cs typeface="Inter"/>
                <a:sym typeface="Inter"/>
              </a:rPr>
              <a:t>Recommendations include workforce optimization, customer satisfaction monitoring, dashboard-driven KPI tracking, peak-hour staffing strategies, and technology investments to support sustainable business growth.</a:t>
            </a:r>
            <a:endParaRPr/>
          </a:p>
        </p:txBody>
      </p:sp>
      <p:sp>
        <p:nvSpPr>
          <p:cNvPr id="499" name="Google Shape;499;p21"/>
          <p:cNvSpPr txBox="1"/>
          <p:nvPr/>
        </p:nvSpPr>
        <p:spPr>
          <a:xfrm>
            <a:off x="1789128" y="7387600"/>
            <a:ext cx="14938496" cy="1286941"/>
          </a:xfrm>
          <a:prstGeom prst="rect">
            <a:avLst/>
          </a:prstGeom>
          <a:noFill/>
          <a:ln>
            <a:noFill/>
          </a:ln>
        </p:spPr>
        <p:txBody>
          <a:bodyPr anchorCtr="0" anchor="t" bIns="0" lIns="0" spcFirstLastPara="1" rIns="0" wrap="square" tIns="0">
            <a:spAutoFit/>
          </a:bodyPr>
          <a:lstStyle/>
          <a:p>
            <a:pPr indent="0" lvl="0" marL="0" marR="0" rtl="0" algn="ctr">
              <a:lnSpc>
                <a:spcPct val="149742"/>
              </a:lnSpc>
              <a:spcBef>
                <a:spcPts val="0"/>
              </a:spcBef>
              <a:spcAft>
                <a:spcPts val="0"/>
              </a:spcAft>
              <a:buNone/>
            </a:pPr>
            <a:r>
              <a:rPr b="1" i="0" lang="en-US" sz="3500" u="none" cap="none" strike="noStrike">
                <a:solidFill>
                  <a:srgbClr val="000000"/>
                </a:solidFill>
                <a:latin typeface="Inter"/>
                <a:ea typeface="Inter"/>
                <a:cs typeface="Inter"/>
                <a:sym typeface="Inter"/>
              </a:rPr>
              <a:t>Transforming Customer Insights into Strategic Business Decisions  </a:t>
            </a:r>
            <a:endParaRPr/>
          </a:p>
          <a:p>
            <a:pPr indent="0" lvl="0" marL="0" marR="0" rtl="0" algn="ctr">
              <a:lnSpc>
                <a:spcPct val="149742"/>
              </a:lnSpc>
              <a:spcBef>
                <a:spcPts val="0"/>
              </a:spcBef>
              <a:spcAft>
                <a:spcPts val="0"/>
              </a:spcAft>
              <a:buNone/>
            </a:pPr>
            <a:r>
              <a:rPr b="1" i="0" lang="en-US" sz="3500" u="none" cap="none" strike="noStrike">
                <a:solidFill>
                  <a:srgbClr val="000000"/>
                </a:solidFill>
                <a:latin typeface="Inter"/>
                <a:ea typeface="Inter"/>
                <a:cs typeface="Inter"/>
                <a:sym typeface="Inter"/>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